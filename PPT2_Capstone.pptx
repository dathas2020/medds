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0" r:id="rId9"/>
    <p:sldId id="267" r:id="rId10"/>
    <p:sldId id="268" r:id="rId11"/>
    <p:sldId id="269" r:id="rId12"/>
    <p:sldId id="270" r:id="rId13"/>
    <p:sldId id="262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02D0-B77D-E31B-EC39-011F6E86E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0B9D8-A1E8-632E-C76F-6C670CCFD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09B5C-09EF-0529-E2AB-548D5CB29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9AF8D-DE5E-3E60-CE5D-5CC558CAF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5EB4A-5949-CCEF-0D82-B3637225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56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E9518-0B6F-5D39-25F1-AEC8B390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66FEE-144B-9426-A264-23E3451C3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9506B-0E90-6BEC-2809-24716992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AB67A-69C7-17F5-81C5-DB1DCDA3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C0562-4FFB-6F2D-716F-E0FE782B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39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D4A5-0FDE-1BDF-CFC1-3240C37F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50D4F-46AD-B4BC-22DC-01F4919E2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FE0A7-67FC-350F-2E5D-07D97BB8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F05E7-FFC8-4BA8-AB02-622135D34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9296D-009F-909A-B929-4D8AB65A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64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57E57-2D96-DF86-D4A9-7BE46B19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97B47-7D26-55E0-570C-3ACA17A91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CC705-FC79-BCC8-C7D3-0D6483861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ABE78-1F54-553D-E3A9-666B643A3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DE2F-E30F-B914-C8B0-82B75BE9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8CA24-5878-7440-C870-F6A43689A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6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55D4-25DE-626B-E238-60C4F051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23E96-0E51-EB32-ADB5-2CB5BA3BA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02C6E-517E-50AF-0B52-BBD1C6902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244C8C-1745-CE83-55E6-A985C5166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DCF04-3821-AA59-7D0D-0219AAE1E1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ECF32-5D53-6ECC-50BB-39C0BFD5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03B0A2-1D13-7FFF-A1CD-27195C245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0DF981-C188-D083-55B0-F4CC2857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3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113D-A272-82E5-6EB3-D0D4BA7AA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CB7220-FC7D-E881-3685-248E46AEB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A21FA-2B42-190A-9075-16FF4FA11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83AB0-3670-359E-B1A4-7FC041D5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19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10073E-7F28-5D49-C777-6DE6D8A8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78430B-9651-CEB3-A9C2-DF827F8B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C8977-9997-D670-BDA8-397CE2F6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9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F820D-BA87-1D47-0AF4-6BDB50927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1FF0D-BF6B-3EB1-F19A-3CE9CFFC5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38260-895B-3A67-222F-0EB8935BE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A31ED-D978-B671-1385-9310E50E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78164-9905-B6FD-B167-B58FB286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1C1BD-DAD5-895E-13FC-D3673031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4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52E3-5EF5-D407-805F-C8B502015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F67579-B8B9-5612-5B7C-CDBB6C3CD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76ABE-B73E-13B0-7E7C-DE59D7E62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E6A6C-5430-B39D-80F5-A464CDFC1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7D3CA-2449-27BF-6040-207CB627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4A99A-907E-8125-79AF-13210EA1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55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3BAE3-86D3-BD43-1823-4CE6FD70D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AF36E-7DD6-6536-CFC6-7DDFEE678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CE0D-5FF9-77DA-70EC-DB1C0216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29E1B-7E2B-7A36-EA20-E9E1BC94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AF976-8613-E6E8-961E-88B8A208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1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58A3B-2616-1BB6-F62F-E413A9A99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36EF1-739C-BC57-8974-2CCA973D8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E5613-C7BF-E8E3-EFA2-6C14BB029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7C575-7471-CE53-9268-6893F61D8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7B31-645B-132E-6218-9ED4C1E3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6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1E606-5C2B-E611-0B05-AB4048C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592FF-3484-495C-CAE3-492C8D7A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B3CE0-C347-4330-F426-F3A4FF6F1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41F6C-BBAE-BCEF-13B7-B83494934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61B9C-D499-AA18-7C73-FA204781B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6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hyperlink" Target="https://svgsilh.com/image/29966.html" TargetMode="External"/><Relationship Id="rId7" Type="http://schemas.openxmlformats.org/officeDocument/2006/relationships/hyperlink" Target="https://manuelgross.blogspot.com/2015/09/psicologia-8-consejos-para-gestionar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hyperlink" Target="https://pixabay.com/ja/illustrations/%E4%BA%BA%E5%B7%A5%E7%9F%A5%E8%83%BD-%E8%84%B3-%E6%80%9D%E3%81%86-3685928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scherlund.blogspot.com/2017/02/reaching-todays-distracted-students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7E8F7613-6C1B-75F2-167D-B1D5E4403F1A}"/>
              </a:ext>
            </a:extLst>
          </p:cNvPr>
          <p:cNvSpPr/>
          <p:nvPr/>
        </p:nvSpPr>
        <p:spPr>
          <a:xfrm>
            <a:off x="3035336" y="1037095"/>
            <a:ext cx="8902008" cy="2873699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C2A8E-18D4-3AFC-9960-B9DE9AD5C2C4}"/>
              </a:ext>
            </a:extLst>
          </p:cNvPr>
          <p:cNvSpPr txBox="1"/>
          <p:nvPr/>
        </p:nvSpPr>
        <p:spPr>
          <a:xfrm>
            <a:off x="4049662" y="1403074"/>
            <a:ext cx="7328691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MULIT-MODAL EMOTION AND DISTRACTION DETECTION SYSTEM (MEDDS)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68BF9-67FE-0495-326F-F5B0EAECD9BE}"/>
              </a:ext>
            </a:extLst>
          </p:cNvPr>
          <p:cNvSpPr txBox="1"/>
          <p:nvPr/>
        </p:nvSpPr>
        <p:spPr>
          <a:xfrm>
            <a:off x="10386906" y="-15270"/>
            <a:ext cx="198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Team:</a:t>
            </a:r>
          </a:p>
          <a:p>
            <a:r>
              <a:rPr lang="en-US" sz="2400" b="1"/>
              <a:t>N Datha Sai</a:t>
            </a:r>
          </a:p>
          <a:p>
            <a:r>
              <a:rPr lang="en-US" sz="2400" b="1"/>
              <a:t>V Reshmi</a:t>
            </a:r>
            <a:endParaRPr lang="en-US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DECFFD-ACE3-6F19-5F88-F3F1AD358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6064" y="2234724"/>
            <a:ext cx="2039620" cy="12224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DE91D4-C2B6-D801-EFDB-B43BA7C692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-339331" y="3457154"/>
            <a:ext cx="4490410" cy="2992438"/>
          </a:xfrm>
          <a:prstGeom prst="rect">
            <a:avLst/>
          </a:prstGeom>
          <a:effectLst>
            <a:reflection blurRad="6350" stA="50000" endA="300" endPos="90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26FE73-3496-1CAF-C4F4-DA5736EE4D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014970" y="4264525"/>
            <a:ext cx="3410318" cy="17112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CDF63D-B551-F982-B79C-6A7B571796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624254" y="4272255"/>
            <a:ext cx="3062433" cy="1703519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E9601E64-86D2-8453-8E43-1E1ABB3B3533}"/>
              </a:ext>
            </a:extLst>
          </p:cNvPr>
          <p:cNvSpPr/>
          <p:nvPr/>
        </p:nvSpPr>
        <p:spPr>
          <a:xfrm>
            <a:off x="3537246" y="4827387"/>
            <a:ext cx="1227667" cy="646331"/>
          </a:xfrm>
          <a:prstGeom prst="right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5C9FF2-8DDB-6D8E-4277-4F27151CE44A}"/>
              </a:ext>
            </a:extLst>
          </p:cNvPr>
          <p:cNvSpPr txBox="1"/>
          <p:nvPr/>
        </p:nvSpPr>
        <p:spPr>
          <a:xfrm>
            <a:off x="5975273" y="5711614"/>
            <a:ext cx="1489711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2800" dirty="0"/>
              <a:t>Emotion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3F2FD-2A70-BE85-959B-696277187F66}"/>
              </a:ext>
            </a:extLst>
          </p:cNvPr>
          <p:cNvSpPr txBox="1"/>
          <p:nvPr/>
        </p:nvSpPr>
        <p:spPr>
          <a:xfrm>
            <a:off x="9198737" y="5711614"/>
            <a:ext cx="1913466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2800" dirty="0"/>
              <a:t>Distraction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AC5E68-8FC1-EECC-3B32-0591662E8B12}"/>
              </a:ext>
            </a:extLst>
          </p:cNvPr>
          <p:cNvSpPr txBox="1"/>
          <p:nvPr/>
        </p:nvSpPr>
        <p:spPr>
          <a:xfrm>
            <a:off x="573359" y="775485"/>
            <a:ext cx="947419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2800" dirty="0"/>
              <a:t>Face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66E825-B5C9-57DF-F377-7B7518246ACC}"/>
              </a:ext>
            </a:extLst>
          </p:cNvPr>
          <p:cNvSpPr txBox="1"/>
          <p:nvPr/>
        </p:nvSpPr>
        <p:spPr>
          <a:xfrm>
            <a:off x="2288280" y="775485"/>
            <a:ext cx="1057485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2800" dirty="0"/>
              <a:t>Voice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D371945-21E3-25F7-0803-3E0E4FBD1721}"/>
              </a:ext>
            </a:extLst>
          </p:cNvPr>
          <p:cNvSpPr/>
          <p:nvPr/>
        </p:nvSpPr>
        <p:spPr>
          <a:xfrm rot="3989028">
            <a:off x="922760" y="1577943"/>
            <a:ext cx="569486" cy="349388"/>
          </a:xfrm>
          <a:prstGeom prst="right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F11B999-B7A7-2EF1-23FF-DF838343E720}"/>
              </a:ext>
            </a:extLst>
          </p:cNvPr>
          <p:cNvSpPr/>
          <p:nvPr/>
        </p:nvSpPr>
        <p:spPr>
          <a:xfrm rot="6697629">
            <a:off x="2257729" y="1579657"/>
            <a:ext cx="569486" cy="349388"/>
          </a:xfrm>
          <a:prstGeom prst="right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4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1277C2-37C3-3500-CA72-A1DB417B55BA}"/>
              </a:ext>
            </a:extLst>
          </p:cNvPr>
          <p:cNvSpPr/>
          <p:nvPr/>
        </p:nvSpPr>
        <p:spPr>
          <a:xfrm>
            <a:off x="3843866" y="347132"/>
            <a:ext cx="4504267" cy="16764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F60EF-89D8-BA69-B86B-2B56B378106A}"/>
              </a:ext>
            </a:extLst>
          </p:cNvPr>
          <p:cNvSpPr txBox="1"/>
          <p:nvPr/>
        </p:nvSpPr>
        <p:spPr>
          <a:xfrm>
            <a:off x="4620681" y="523612"/>
            <a:ext cx="29506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PROGRESS OVERVIEW</a:t>
            </a:r>
          </a:p>
        </p:txBody>
      </p:sp>
      <p:sp>
        <p:nvSpPr>
          <p:cNvPr id="7" name="Rectangle: Top Corners One Rounded and One Snipped 6">
            <a:extLst>
              <a:ext uri="{FF2B5EF4-FFF2-40B4-BE49-F238E27FC236}">
                <a16:creationId xmlns:a16="http://schemas.microsoft.com/office/drawing/2014/main" id="{F97CD3DC-98BD-B6BE-21C4-FDE6DB93058C}"/>
              </a:ext>
            </a:extLst>
          </p:cNvPr>
          <p:cNvSpPr/>
          <p:nvPr/>
        </p:nvSpPr>
        <p:spPr>
          <a:xfrm>
            <a:off x="419100" y="2376492"/>
            <a:ext cx="11353799" cy="4134376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896F7F-B4B7-55DA-D045-658309852920}"/>
              </a:ext>
            </a:extLst>
          </p:cNvPr>
          <p:cNvSpPr txBox="1"/>
          <p:nvPr/>
        </p:nvSpPr>
        <p:spPr>
          <a:xfrm>
            <a:off x="1093354" y="3045373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08C58-48E2-E0AA-E46D-4A6D889DF925}"/>
              </a:ext>
            </a:extLst>
          </p:cNvPr>
          <p:cNvSpPr txBox="1"/>
          <p:nvPr/>
        </p:nvSpPr>
        <p:spPr>
          <a:xfrm>
            <a:off x="6376555" y="3045373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2D1439-50EC-9AF0-4B54-58A62A2B7C25}"/>
              </a:ext>
            </a:extLst>
          </p:cNvPr>
          <p:cNvSpPr txBox="1"/>
          <p:nvPr/>
        </p:nvSpPr>
        <p:spPr>
          <a:xfrm>
            <a:off x="1245176" y="3492555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Finalized project 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BB20A-96E6-7967-36C1-B1734FF7AA94}"/>
              </a:ext>
            </a:extLst>
          </p:cNvPr>
          <p:cNvSpPr txBox="1"/>
          <p:nvPr/>
        </p:nvSpPr>
        <p:spPr>
          <a:xfrm>
            <a:off x="1245176" y="4370624"/>
            <a:ext cx="45850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collection &amp; organization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690F8-9244-61A6-6E81-942BE39B07C3}"/>
              </a:ext>
            </a:extLst>
          </p:cNvPr>
          <p:cNvSpPr txBox="1"/>
          <p:nvPr/>
        </p:nvSpPr>
        <p:spPr>
          <a:xfrm>
            <a:off x="1283856" y="5248691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pre-processing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C3891C-F881-75F5-C71C-153AF21D2B64}"/>
              </a:ext>
            </a:extLst>
          </p:cNvPr>
          <p:cNvSpPr txBox="1"/>
          <p:nvPr/>
        </p:nvSpPr>
        <p:spPr>
          <a:xfrm>
            <a:off x="6528377" y="4370623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Training voice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83EF01-0658-F761-5017-BEA3F2746C6C}"/>
              </a:ext>
            </a:extLst>
          </p:cNvPr>
          <p:cNvSpPr txBox="1"/>
          <p:nvPr/>
        </p:nvSpPr>
        <p:spPr>
          <a:xfrm>
            <a:off x="6528377" y="3492554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Fine-tuning face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1300C-BAD0-BBA2-8B5C-B986A5B186D7}"/>
              </a:ext>
            </a:extLst>
          </p:cNvPr>
          <p:cNvSpPr txBox="1"/>
          <p:nvPr/>
        </p:nvSpPr>
        <p:spPr>
          <a:xfrm>
            <a:off x="6528377" y="5248691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Fine-tuning spoof model</a:t>
            </a:r>
          </a:p>
        </p:txBody>
      </p:sp>
    </p:spTree>
    <p:extLst>
      <p:ext uri="{BB962C8B-B14F-4D97-AF65-F5344CB8AC3E}">
        <p14:creationId xmlns:p14="http://schemas.microsoft.com/office/powerpoint/2010/main" val="137512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9F282-0F1E-2F84-29A3-B20453B23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CC1FDD2-E55E-82B1-BD45-367032EF6C9B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3BCF2-BEF0-BA31-AF4B-267271C92EAB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734DB4F-DD8B-9CEB-4F0C-C1DDDA4ECFFB}"/>
              </a:ext>
            </a:extLst>
          </p:cNvPr>
          <p:cNvSpPr/>
          <p:nvPr/>
        </p:nvSpPr>
        <p:spPr>
          <a:xfrm>
            <a:off x="668867" y="2379134"/>
            <a:ext cx="10845800" cy="4165600"/>
          </a:xfrm>
          <a:prstGeom prst="round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99FF39-B2DB-FF67-BD98-CBC8999A470D}"/>
              </a:ext>
            </a:extLst>
          </p:cNvPr>
          <p:cNvSpPr/>
          <p:nvPr/>
        </p:nvSpPr>
        <p:spPr>
          <a:xfrm>
            <a:off x="3158065" y="2654302"/>
            <a:ext cx="5884335" cy="36279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701AA2-EB11-9546-70B8-75547A67C3DD}"/>
              </a:ext>
            </a:extLst>
          </p:cNvPr>
          <p:cNvSpPr/>
          <p:nvPr/>
        </p:nvSpPr>
        <p:spPr>
          <a:xfrm>
            <a:off x="939800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Pre-Processing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AD95BE-998B-E30C-4E85-8562BDD8122C}"/>
              </a:ext>
            </a:extLst>
          </p:cNvPr>
          <p:cNvSpPr/>
          <p:nvPr/>
        </p:nvSpPr>
        <p:spPr>
          <a:xfrm>
            <a:off x="939800" y="4864100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Models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8FF043B-6A01-27C0-7809-59754D7FD8F2}"/>
              </a:ext>
            </a:extLst>
          </p:cNvPr>
          <p:cNvSpPr/>
          <p:nvPr/>
        </p:nvSpPr>
        <p:spPr>
          <a:xfrm>
            <a:off x="9287933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Fusion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1472741-3007-4BFA-F470-6D4385D6AC9F}"/>
              </a:ext>
            </a:extLst>
          </p:cNvPr>
          <p:cNvSpPr/>
          <p:nvPr/>
        </p:nvSpPr>
        <p:spPr>
          <a:xfrm>
            <a:off x="9287933" y="4864100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Output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BDCB023-A374-4796-D346-BB6B09C0229F}"/>
              </a:ext>
            </a:extLst>
          </p:cNvPr>
          <p:cNvSpPr/>
          <p:nvPr/>
        </p:nvSpPr>
        <p:spPr>
          <a:xfrm>
            <a:off x="3344333" y="2798233"/>
            <a:ext cx="5520267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Input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0CDF03-ADF8-9426-7C5B-51B13CAB7B8C}"/>
              </a:ext>
            </a:extLst>
          </p:cNvPr>
          <p:cNvSpPr txBox="1"/>
          <p:nvPr/>
        </p:nvSpPr>
        <p:spPr>
          <a:xfrm>
            <a:off x="3708400" y="4334935"/>
            <a:ext cx="4639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u="sng" dirty="0"/>
              <a:t>Source</a:t>
            </a:r>
            <a:r>
              <a:rPr lang="en-US" dirty="0"/>
              <a:t>	</a:t>
            </a:r>
            <a:r>
              <a:rPr lang="en-US" u="sng" dirty="0"/>
              <a:t>Duration</a:t>
            </a:r>
            <a:r>
              <a:rPr lang="en-US" dirty="0"/>
              <a:t>		 </a:t>
            </a:r>
            <a:r>
              <a:rPr lang="en-US" u="sng" dirty="0"/>
              <a:t>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Webcam	 2~5 sec		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Microphone	   3 sec		Audio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451CBF-C1EF-CB2E-BD5E-056EB7DA22C3}"/>
              </a:ext>
            </a:extLst>
          </p:cNvPr>
          <p:cNvSpPr txBox="1"/>
          <p:nvPr/>
        </p:nvSpPr>
        <p:spPr>
          <a:xfrm>
            <a:off x="3708400" y="5410200"/>
            <a:ext cx="4792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Input captured in real-time through UI dashboard</a:t>
            </a:r>
          </a:p>
        </p:txBody>
      </p:sp>
    </p:spTree>
    <p:extLst>
      <p:ext uri="{BB962C8B-B14F-4D97-AF65-F5344CB8AC3E}">
        <p14:creationId xmlns:p14="http://schemas.microsoft.com/office/powerpoint/2010/main" val="3069303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A3E6-13FF-84BD-048E-ADCCBF3F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BAB47D-414C-DD39-41EA-AB558E45E6B0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6B450-1626-B53D-9993-2DCBB78C0129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345CDB-AD9D-D16D-3DE7-110AF926C257}"/>
              </a:ext>
            </a:extLst>
          </p:cNvPr>
          <p:cNvSpPr/>
          <p:nvPr/>
        </p:nvSpPr>
        <p:spPr>
          <a:xfrm>
            <a:off x="668867" y="2379134"/>
            <a:ext cx="10845800" cy="4165600"/>
          </a:xfrm>
          <a:prstGeom prst="round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E35D08-2611-A684-61AB-048C21BE823F}"/>
              </a:ext>
            </a:extLst>
          </p:cNvPr>
          <p:cNvSpPr/>
          <p:nvPr/>
        </p:nvSpPr>
        <p:spPr>
          <a:xfrm>
            <a:off x="3158065" y="2654302"/>
            <a:ext cx="5884335" cy="36279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DC15E9-4638-572A-E9F2-AF222AC2E324}"/>
              </a:ext>
            </a:extLst>
          </p:cNvPr>
          <p:cNvSpPr/>
          <p:nvPr/>
        </p:nvSpPr>
        <p:spPr>
          <a:xfrm>
            <a:off x="3412067" y="2810935"/>
            <a:ext cx="5376333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Pre-Processing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D20C60-D0DB-0BEE-37CC-3277BCB443E7}"/>
              </a:ext>
            </a:extLst>
          </p:cNvPr>
          <p:cNvSpPr/>
          <p:nvPr/>
        </p:nvSpPr>
        <p:spPr>
          <a:xfrm>
            <a:off x="939800" y="4864100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Models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934ACB-0A7C-59AD-68A0-FEACADA2A25F}"/>
              </a:ext>
            </a:extLst>
          </p:cNvPr>
          <p:cNvSpPr/>
          <p:nvPr/>
        </p:nvSpPr>
        <p:spPr>
          <a:xfrm>
            <a:off x="9287933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Fusion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A760B8-241B-2802-6957-EFA0B6B43854}"/>
              </a:ext>
            </a:extLst>
          </p:cNvPr>
          <p:cNvSpPr/>
          <p:nvPr/>
        </p:nvSpPr>
        <p:spPr>
          <a:xfrm>
            <a:off x="9287933" y="4864100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Output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6A028D2-CDE4-1F45-6E77-424793F2A595}"/>
              </a:ext>
            </a:extLst>
          </p:cNvPr>
          <p:cNvSpPr/>
          <p:nvPr/>
        </p:nvSpPr>
        <p:spPr>
          <a:xfrm>
            <a:off x="922868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Input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F57033-52B3-6206-42E8-318777AFFAAE}"/>
              </a:ext>
            </a:extLst>
          </p:cNvPr>
          <p:cNvSpPr txBox="1"/>
          <p:nvPr/>
        </p:nvSpPr>
        <p:spPr>
          <a:xfrm>
            <a:off x="3708400" y="4334935"/>
            <a:ext cx="4639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Image: Re-scaled, Normalized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Spoof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4DCD86-BD73-DEA1-07C1-72BDF3CFC712}"/>
              </a:ext>
            </a:extLst>
          </p:cNvPr>
          <p:cNvSpPr txBox="1"/>
          <p:nvPr/>
        </p:nvSpPr>
        <p:spPr>
          <a:xfrm>
            <a:off x="3695700" y="5308601"/>
            <a:ext cx="4991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Audio: Standardize (time), Extract MFCC, Normalize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Voice Model</a:t>
            </a:r>
          </a:p>
        </p:txBody>
      </p:sp>
    </p:spTree>
    <p:extLst>
      <p:ext uri="{BB962C8B-B14F-4D97-AF65-F5344CB8AC3E}">
        <p14:creationId xmlns:p14="http://schemas.microsoft.com/office/powerpoint/2010/main" val="1204586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45180-A557-2DED-AFAC-48FB6BB11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DA2C6D-6D24-4E4D-C37D-406491DED91D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A1E52-34C1-C0EC-2E83-2DB882F2B6A9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22799E-1F7E-E8A9-1B9A-BE3B531FE7E2}"/>
              </a:ext>
            </a:extLst>
          </p:cNvPr>
          <p:cNvSpPr/>
          <p:nvPr/>
        </p:nvSpPr>
        <p:spPr>
          <a:xfrm>
            <a:off x="668867" y="2379134"/>
            <a:ext cx="10845800" cy="4165600"/>
          </a:xfrm>
          <a:prstGeom prst="round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123767-59B2-2760-C854-B8E41805D9A9}"/>
              </a:ext>
            </a:extLst>
          </p:cNvPr>
          <p:cNvSpPr/>
          <p:nvPr/>
        </p:nvSpPr>
        <p:spPr>
          <a:xfrm>
            <a:off x="3158065" y="2654302"/>
            <a:ext cx="5884335" cy="36279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BFAB3F-3C50-E7EB-B32F-2FD087300C4C}"/>
              </a:ext>
            </a:extLst>
          </p:cNvPr>
          <p:cNvSpPr/>
          <p:nvPr/>
        </p:nvSpPr>
        <p:spPr>
          <a:xfrm>
            <a:off x="935569" y="4902666"/>
            <a:ext cx="1968499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Pre-Processing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BDCF75-0E35-B0F3-3474-99E30E402A25}"/>
              </a:ext>
            </a:extLst>
          </p:cNvPr>
          <p:cNvSpPr/>
          <p:nvPr/>
        </p:nvSpPr>
        <p:spPr>
          <a:xfrm>
            <a:off x="3412067" y="2861734"/>
            <a:ext cx="5384799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Models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8F1057-C112-17B4-2043-A6711A38D3A5}"/>
              </a:ext>
            </a:extLst>
          </p:cNvPr>
          <p:cNvSpPr/>
          <p:nvPr/>
        </p:nvSpPr>
        <p:spPr>
          <a:xfrm>
            <a:off x="9287933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Fusion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691BA52-5E23-2729-1711-BB3A6277AC1F}"/>
              </a:ext>
            </a:extLst>
          </p:cNvPr>
          <p:cNvSpPr/>
          <p:nvPr/>
        </p:nvSpPr>
        <p:spPr>
          <a:xfrm>
            <a:off x="9287933" y="4864100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Output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224FC1-D2E1-94CF-0553-9A58686F0D45}"/>
              </a:ext>
            </a:extLst>
          </p:cNvPr>
          <p:cNvSpPr/>
          <p:nvPr/>
        </p:nvSpPr>
        <p:spPr>
          <a:xfrm>
            <a:off x="922868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Input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8A74EC-4524-1896-D8A6-CD86AEA3CB13}"/>
              </a:ext>
            </a:extLst>
          </p:cNvPr>
          <p:cNvSpPr txBox="1"/>
          <p:nvPr/>
        </p:nvSpPr>
        <p:spPr>
          <a:xfrm>
            <a:off x="4051299" y="4330700"/>
            <a:ext cx="4639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Predicts Emotions’ probabilities.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828672-6657-AFB6-22FC-D9C9AB23A329}"/>
              </a:ext>
            </a:extLst>
          </p:cNvPr>
          <p:cNvSpPr txBox="1"/>
          <p:nvPr/>
        </p:nvSpPr>
        <p:spPr>
          <a:xfrm>
            <a:off x="4051299" y="4951894"/>
            <a:ext cx="499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Voice Model: </a:t>
            </a:r>
          </a:p>
          <a:p>
            <a:r>
              <a:rPr lang="en-US" dirty="0"/>
              <a:t>Predicts Emotion ’ probabilities.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1C0D0-FCD4-1D38-16A8-8A717A712BCC}"/>
              </a:ext>
            </a:extLst>
          </p:cNvPr>
          <p:cNvSpPr txBox="1"/>
          <p:nvPr/>
        </p:nvSpPr>
        <p:spPr>
          <a:xfrm>
            <a:off x="4051299" y="5573087"/>
            <a:ext cx="499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Spoof Model: </a:t>
            </a:r>
          </a:p>
          <a:p>
            <a:r>
              <a:rPr lang="en-US" dirty="0"/>
              <a:t>Predicts if the person is real/spoof.</a:t>
            </a:r>
          </a:p>
        </p:txBody>
      </p:sp>
    </p:spTree>
    <p:extLst>
      <p:ext uri="{BB962C8B-B14F-4D97-AF65-F5344CB8AC3E}">
        <p14:creationId xmlns:p14="http://schemas.microsoft.com/office/powerpoint/2010/main" val="3386793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32E91-4F42-9910-1DB9-67A1FFCE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163DCD8-ED37-AD24-1AD1-1B16140DF12A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147A2C-7742-F172-A691-804E2822ED9B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E57347-AB1A-8BB4-211C-002551A8E926}"/>
              </a:ext>
            </a:extLst>
          </p:cNvPr>
          <p:cNvSpPr/>
          <p:nvPr/>
        </p:nvSpPr>
        <p:spPr>
          <a:xfrm>
            <a:off x="668867" y="2379134"/>
            <a:ext cx="10845800" cy="4165600"/>
          </a:xfrm>
          <a:prstGeom prst="round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89D873-DFEC-5D0C-9E7D-B335080C726B}"/>
              </a:ext>
            </a:extLst>
          </p:cNvPr>
          <p:cNvSpPr/>
          <p:nvPr/>
        </p:nvSpPr>
        <p:spPr>
          <a:xfrm>
            <a:off x="3158065" y="2654302"/>
            <a:ext cx="5884335" cy="36279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5E8BDF-5EB7-4BC0-5B92-9CF055268A15}"/>
              </a:ext>
            </a:extLst>
          </p:cNvPr>
          <p:cNvSpPr/>
          <p:nvPr/>
        </p:nvSpPr>
        <p:spPr>
          <a:xfrm>
            <a:off x="935569" y="4902666"/>
            <a:ext cx="1968499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Pre-Processing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AB646E-3FB7-D3C4-DFF3-098F1C0B13C4}"/>
              </a:ext>
            </a:extLst>
          </p:cNvPr>
          <p:cNvSpPr/>
          <p:nvPr/>
        </p:nvSpPr>
        <p:spPr>
          <a:xfrm>
            <a:off x="9296397" y="2796863"/>
            <a:ext cx="1972735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Models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1CAF8-3B33-C558-13FC-93B2FDE4716A}"/>
              </a:ext>
            </a:extLst>
          </p:cNvPr>
          <p:cNvSpPr/>
          <p:nvPr/>
        </p:nvSpPr>
        <p:spPr>
          <a:xfrm>
            <a:off x="3412068" y="2824481"/>
            <a:ext cx="5376332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Fusion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3E0D15C-AD1C-C924-F76A-68A9E7856EF3}"/>
              </a:ext>
            </a:extLst>
          </p:cNvPr>
          <p:cNvSpPr/>
          <p:nvPr/>
        </p:nvSpPr>
        <p:spPr>
          <a:xfrm>
            <a:off x="9287933" y="4864100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Output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E5A9FE-62EE-B0A1-F2D8-56198A68762A}"/>
              </a:ext>
            </a:extLst>
          </p:cNvPr>
          <p:cNvSpPr/>
          <p:nvPr/>
        </p:nvSpPr>
        <p:spPr>
          <a:xfrm>
            <a:off x="922868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Input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FA16C-A9DB-E321-8C2D-A9C7DD5A1659}"/>
              </a:ext>
            </a:extLst>
          </p:cNvPr>
          <p:cNvSpPr txBox="1"/>
          <p:nvPr/>
        </p:nvSpPr>
        <p:spPr>
          <a:xfrm>
            <a:off x="3843866" y="4361183"/>
            <a:ext cx="4842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Weighted Emotion Fusion: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Face model + voice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BB311-ABFF-C08B-2D45-E68A3B4EAB0D}"/>
              </a:ext>
            </a:extLst>
          </p:cNvPr>
          <p:cNvSpPr txBox="1"/>
          <p:nvPr/>
        </p:nvSpPr>
        <p:spPr>
          <a:xfrm>
            <a:off x="3843866" y="5282682"/>
            <a:ext cx="4842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Distraction Prediction Logic: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Spoof model + face model + voice model</a:t>
            </a:r>
          </a:p>
        </p:txBody>
      </p:sp>
    </p:spTree>
    <p:extLst>
      <p:ext uri="{BB962C8B-B14F-4D97-AF65-F5344CB8AC3E}">
        <p14:creationId xmlns:p14="http://schemas.microsoft.com/office/powerpoint/2010/main" val="3551211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FC2EB-0E5D-F4CE-8CD7-1E3F2A7EB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AF185B-8124-7BBF-39BE-052C6F2D1380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218C2-E8A2-0D79-C941-C5FEE4B65794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3B2E8A-6F8D-3E83-2D47-D144993638DE}"/>
              </a:ext>
            </a:extLst>
          </p:cNvPr>
          <p:cNvSpPr/>
          <p:nvPr/>
        </p:nvSpPr>
        <p:spPr>
          <a:xfrm>
            <a:off x="668867" y="2379134"/>
            <a:ext cx="10845800" cy="4165600"/>
          </a:xfrm>
          <a:prstGeom prst="round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D0645C-6420-3369-19E0-FD50E09BA7EA}"/>
              </a:ext>
            </a:extLst>
          </p:cNvPr>
          <p:cNvSpPr/>
          <p:nvPr/>
        </p:nvSpPr>
        <p:spPr>
          <a:xfrm>
            <a:off x="3170770" y="2637369"/>
            <a:ext cx="5884335" cy="36279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8C6BD0-7364-1CE5-7442-3BB84F6EFD7E}"/>
              </a:ext>
            </a:extLst>
          </p:cNvPr>
          <p:cNvSpPr/>
          <p:nvPr/>
        </p:nvSpPr>
        <p:spPr>
          <a:xfrm>
            <a:off x="935569" y="4902666"/>
            <a:ext cx="1968499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Pre-Processing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7EEC41-6F70-0476-3C2B-58CED71798E7}"/>
              </a:ext>
            </a:extLst>
          </p:cNvPr>
          <p:cNvSpPr/>
          <p:nvPr/>
        </p:nvSpPr>
        <p:spPr>
          <a:xfrm>
            <a:off x="9296397" y="2796863"/>
            <a:ext cx="1972735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Models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911D7C-28C8-BADA-0D20-2A67F0BBE042}"/>
              </a:ext>
            </a:extLst>
          </p:cNvPr>
          <p:cNvSpPr/>
          <p:nvPr/>
        </p:nvSpPr>
        <p:spPr>
          <a:xfrm>
            <a:off x="9296396" y="4902666"/>
            <a:ext cx="1972735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Fusion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97273E-F74D-EB4A-411B-E1E1CD5262D6}"/>
              </a:ext>
            </a:extLst>
          </p:cNvPr>
          <p:cNvSpPr/>
          <p:nvPr/>
        </p:nvSpPr>
        <p:spPr>
          <a:xfrm>
            <a:off x="3412068" y="2796863"/>
            <a:ext cx="5376332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Output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406714-C489-6F70-C7CC-723FE819A798}"/>
              </a:ext>
            </a:extLst>
          </p:cNvPr>
          <p:cNvSpPr/>
          <p:nvPr/>
        </p:nvSpPr>
        <p:spPr>
          <a:xfrm>
            <a:off x="922868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E1C24-4FCC-686A-D1E6-6A5A270F3671}"/>
              </a:ext>
            </a:extLst>
          </p:cNvPr>
          <p:cNvSpPr txBox="1"/>
          <p:nvPr/>
        </p:nvSpPr>
        <p:spPr>
          <a:xfrm>
            <a:off x="3843866" y="4461934"/>
            <a:ext cx="450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Display emotion percentages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2DB42F-7556-DB46-529F-81D37A1AA82B}"/>
              </a:ext>
            </a:extLst>
          </p:cNvPr>
          <p:cNvSpPr txBox="1"/>
          <p:nvPr/>
        </p:nvSpPr>
        <p:spPr>
          <a:xfrm>
            <a:off x="3848100" y="4935501"/>
            <a:ext cx="450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Show distraction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D3BEF-1514-D48B-068B-6A29B07809AD}"/>
              </a:ext>
            </a:extLst>
          </p:cNvPr>
          <p:cNvSpPr txBox="1"/>
          <p:nvPr/>
        </p:nvSpPr>
        <p:spPr>
          <a:xfrm>
            <a:off x="3839633" y="5415752"/>
            <a:ext cx="450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Display spoof detection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B7B581-6205-A846-F4A1-109ECE163BE3}"/>
              </a:ext>
            </a:extLst>
          </p:cNvPr>
          <p:cNvSpPr txBox="1"/>
          <p:nvPr/>
        </p:nvSpPr>
        <p:spPr>
          <a:xfrm>
            <a:off x="7067549" y="5840543"/>
            <a:ext cx="1962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Real-time outputs</a:t>
            </a:r>
          </a:p>
        </p:txBody>
      </p:sp>
    </p:spTree>
    <p:extLst>
      <p:ext uri="{BB962C8B-B14F-4D97-AF65-F5344CB8AC3E}">
        <p14:creationId xmlns:p14="http://schemas.microsoft.com/office/powerpoint/2010/main" val="1513059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FEF8A-01AD-1AE2-6B0D-D6C6FEF46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CE9EB2-8C7D-2496-BF00-2DD865192C58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D3FEF6-502A-8930-9E07-32C3AA2F4188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</a:p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1AD39415-498A-4439-CB72-E102F4D2EFEE}"/>
              </a:ext>
            </a:extLst>
          </p:cNvPr>
          <p:cNvSpPr/>
          <p:nvPr/>
        </p:nvSpPr>
        <p:spPr>
          <a:xfrm>
            <a:off x="233369" y="2565399"/>
            <a:ext cx="2691348" cy="2078559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F5E11B3-5D8C-7F41-CA2B-086EC6B94504}"/>
              </a:ext>
            </a:extLst>
          </p:cNvPr>
          <p:cNvSpPr/>
          <p:nvPr/>
        </p:nvSpPr>
        <p:spPr>
          <a:xfrm flipV="1">
            <a:off x="233369" y="4597398"/>
            <a:ext cx="2691348" cy="2078558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3F3E33-ACC2-F41A-A6EB-B2A5CA6AA779}"/>
              </a:ext>
            </a:extLst>
          </p:cNvPr>
          <p:cNvSpPr/>
          <p:nvPr/>
        </p:nvSpPr>
        <p:spPr>
          <a:xfrm>
            <a:off x="1418166" y="1058332"/>
            <a:ext cx="1701800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17C734-7B24-FF2D-33F9-3012EE1DEA5A}"/>
              </a:ext>
            </a:extLst>
          </p:cNvPr>
          <p:cNvSpPr txBox="1"/>
          <p:nvPr/>
        </p:nvSpPr>
        <p:spPr>
          <a:xfrm>
            <a:off x="312742" y="2853265"/>
            <a:ext cx="2533470" cy="3170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1</a:t>
            </a:r>
          </a:p>
          <a:p>
            <a:pPr algn="ctr"/>
            <a:r>
              <a:rPr lang="en-US" sz="2000" b="1" dirty="0"/>
              <a:t>angry	   5,920</a:t>
            </a:r>
          </a:p>
          <a:p>
            <a:pPr algn="ctr"/>
            <a:r>
              <a:rPr lang="en-US" sz="2000" b="1" dirty="0"/>
              <a:t>disgust	   5,920</a:t>
            </a:r>
          </a:p>
          <a:p>
            <a:pPr algn="ctr"/>
            <a:r>
              <a:rPr lang="en-US" sz="2000" b="1" dirty="0"/>
              <a:t>fear	   5,920</a:t>
            </a:r>
          </a:p>
          <a:p>
            <a:pPr algn="ctr"/>
            <a:r>
              <a:rPr lang="en-US" sz="2000" b="1" dirty="0"/>
              <a:t>happy	 11,398</a:t>
            </a:r>
          </a:p>
          <a:p>
            <a:pPr algn="ctr"/>
            <a:r>
              <a:rPr lang="en-US" sz="2000" b="1" dirty="0"/>
              <a:t>neutral	    8,166</a:t>
            </a:r>
          </a:p>
          <a:p>
            <a:pPr algn="ctr"/>
            <a:r>
              <a:rPr lang="en-US" sz="2000" b="1" dirty="0"/>
              <a:t>sad	    6,535</a:t>
            </a:r>
          </a:p>
          <a:p>
            <a:pPr algn="ctr"/>
            <a:r>
              <a:rPr lang="en-US" sz="2000" b="1" dirty="0"/>
              <a:t>surprise   5,920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32,019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953E6E4F-C0D5-1EE8-81E8-58159643B916}"/>
              </a:ext>
            </a:extLst>
          </p:cNvPr>
          <p:cNvSpPr/>
          <p:nvPr/>
        </p:nvSpPr>
        <p:spPr>
          <a:xfrm>
            <a:off x="323531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DFAA4326-B0E2-E080-E7EA-7C1EB2D1E193}"/>
              </a:ext>
            </a:extLst>
          </p:cNvPr>
          <p:cNvSpPr/>
          <p:nvPr/>
        </p:nvSpPr>
        <p:spPr>
          <a:xfrm flipV="1">
            <a:off x="3235319" y="4597393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6E38E9-AD68-4190-459A-793677675EEA}"/>
              </a:ext>
            </a:extLst>
          </p:cNvPr>
          <p:cNvSpPr txBox="1"/>
          <p:nvPr/>
        </p:nvSpPr>
        <p:spPr>
          <a:xfrm>
            <a:off x="3314692" y="2853263"/>
            <a:ext cx="25334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2</a:t>
            </a:r>
          </a:p>
          <a:p>
            <a:pPr algn="ctr"/>
            <a:r>
              <a:rPr lang="en-US" sz="2000" b="1" dirty="0"/>
              <a:t>angry	   4,953</a:t>
            </a:r>
          </a:p>
          <a:p>
            <a:pPr algn="ctr"/>
            <a:r>
              <a:rPr lang="en-US" sz="2000" b="1" dirty="0"/>
              <a:t>disgust	       547</a:t>
            </a:r>
          </a:p>
          <a:p>
            <a:pPr algn="ctr"/>
            <a:r>
              <a:rPr lang="en-US" sz="2000" b="1" dirty="0"/>
              <a:t>fear	   5,121</a:t>
            </a:r>
          </a:p>
          <a:p>
            <a:pPr algn="ctr"/>
            <a:r>
              <a:rPr lang="en-US" sz="2000" b="1" dirty="0"/>
              <a:t>happy	   8,989</a:t>
            </a:r>
          </a:p>
          <a:p>
            <a:pPr algn="ctr"/>
            <a:r>
              <a:rPr lang="en-US" sz="2000" b="1" dirty="0"/>
              <a:t>neutral	   6,198</a:t>
            </a:r>
          </a:p>
          <a:p>
            <a:pPr algn="ctr"/>
            <a:r>
              <a:rPr lang="en-US" sz="2000" b="1" dirty="0"/>
              <a:t>sad	   6,077</a:t>
            </a:r>
          </a:p>
          <a:p>
            <a:pPr algn="ctr"/>
            <a:r>
              <a:rPr lang="en-US" sz="2000" b="1" dirty="0"/>
              <a:t>surprised  4,002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35,887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3E4C35B1-9DB1-42D5-083F-637B0C84E722}"/>
              </a:ext>
            </a:extLst>
          </p:cNvPr>
          <p:cNvSpPr/>
          <p:nvPr/>
        </p:nvSpPr>
        <p:spPr>
          <a:xfrm>
            <a:off x="623726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BF76445E-9EC1-7808-9860-705705E2FE8F}"/>
              </a:ext>
            </a:extLst>
          </p:cNvPr>
          <p:cNvSpPr/>
          <p:nvPr/>
        </p:nvSpPr>
        <p:spPr>
          <a:xfrm flipV="1">
            <a:off x="6237269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A0CAF3-9CE3-E7F6-C6E4-CB608C996D4D}"/>
              </a:ext>
            </a:extLst>
          </p:cNvPr>
          <p:cNvSpPr txBox="1"/>
          <p:nvPr/>
        </p:nvSpPr>
        <p:spPr>
          <a:xfrm>
            <a:off x="6316641" y="2853263"/>
            <a:ext cx="25334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3</a:t>
            </a:r>
          </a:p>
          <a:p>
            <a:pPr algn="ctr"/>
            <a:r>
              <a:rPr lang="en-US" sz="2000" b="1" dirty="0"/>
              <a:t>Angry	   10,148</a:t>
            </a:r>
          </a:p>
          <a:p>
            <a:pPr algn="ctr"/>
            <a:r>
              <a:rPr lang="en-US" sz="2000" b="1" dirty="0"/>
              <a:t>Fear	     9,732</a:t>
            </a:r>
          </a:p>
          <a:p>
            <a:pPr algn="ctr"/>
            <a:r>
              <a:rPr lang="en-US" sz="2000" b="1" dirty="0"/>
              <a:t>Happy	   18,439</a:t>
            </a:r>
          </a:p>
          <a:p>
            <a:pPr algn="ctr"/>
            <a:r>
              <a:rPr lang="en-US" sz="2000" b="1" dirty="0"/>
              <a:t>Sad	   12,553</a:t>
            </a:r>
          </a:p>
          <a:p>
            <a:pPr algn="ctr"/>
            <a:r>
              <a:rPr lang="en-US" sz="2000" b="1" dirty="0"/>
              <a:t>Surprise     8,227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59,099</a:t>
            </a: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ACFB739B-C8A2-F5A9-6685-F8B653DEA9AA}"/>
              </a:ext>
            </a:extLst>
          </p:cNvPr>
          <p:cNvSpPr/>
          <p:nvPr/>
        </p:nvSpPr>
        <p:spPr>
          <a:xfrm>
            <a:off x="923921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D61132BF-3B87-F53D-41BA-9235E3FF4CB8}"/>
              </a:ext>
            </a:extLst>
          </p:cNvPr>
          <p:cNvSpPr/>
          <p:nvPr/>
        </p:nvSpPr>
        <p:spPr>
          <a:xfrm flipV="1">
            <a:off x="9239219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454AED-C195-93D8-C03C-FE6171E8FCC3}"/>
              </a:ext>
            </a:extLst>
          </p:cNvPr>
          <p:cNvSpPr txBox="1"/>
          <p:nvPr/>
        </p:nvSpPr>
        <p:spPr>
          <a:xfrm>
            <a:off x="9318591" y="2853263"/>
            <a:ext cx="25334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Final Dataset</a:t>
            </a:r>
          </a:p>
          <a:p>
            <a:pPr algn="ctr"/>
            <a:r>
              <a:rPr lang="en-US" sz="2000" b="1" dirty="0"/>
              <a:t>angry	     9,915</a:t>
            </a:r>
          </a:p>
          <a:p>
            <a:pPr algn="ctr"/>
            <a:r>
              <a:rPr lang="en-US" sz="2000" b="1" dirty="0"/>
              <a:t>disgust	      6,356</a:t>
            </a:r>
          </a:p>
          <a:p>
            <a:pPr algn="ctr"/>
            <a:r>
              <a:rPr lang="en-US" sz="2000" b="1" dirty="0"/>
              <a:t>fear	   10,017</a:t>
            </a:r>
          </a:p>
          <a:p>
            <a:pPr algn="ctr"/>
            <a:r>
              <a:rPr lang="en-US" sz="2000" b="1" dirty="0"/>
              <a:t>happy	  18,613</a:t>
            </a:r>
          </a:p>
          <a:p>
            <a:pPr algn="ctr"/>
            <a:r>
              <a:rPr lang="en-US" sz="2000" b="1" dirty="0"/>
              <a:t>neutral	   13,131</a:t>
            </a:r>
          </a:p>
          <a:p>
            <a:pPr algn="ctr"/>
            <a:r>
              <a:rPr lang="en-US" sz="2000" b="1" dirty="0"/>
              <a:t>sad	    11,365</a:t>
            </a:r>
          </a:p>
          <a:p>
            <a:pPr algn="ctr"/>
            <a:r>
              <a:rPr lang="en-US" sz="2000" b="1" dirty="0"/>
              <a:t>surprise      9,091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78,488</a:t>
            </a:r>
          </a:p>
        </p:txBody>
      </p:sp>
    </p:spTree>
    <p:extLst>
      <p:ext uri="{BB962C8B-B14F-4D97-AF65-F5344CB8AC3E}">
        <p14:creationId xmlns:p14="http://schemas.microsoft.com/office/powerpoint/2010/main" val="272021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961CF-5E9C-807D-EE11-A53A1BA1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316070-9253-70E8-C4F8-FBAB63BD1E63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05B129-5DB3-CE45-17B9-67ADA0D92D9D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</a:p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588A0E93-79CC-D513-3063-93F8D33E93E8}"/>
              </a:ext>
            </a:extLst>
          </p:cNvPr>
          <p:cNvSpPr/>
          <p:nvPr/>
        </p:nvSpPr>
        <p:spPr>
          <a:xfrm>
            <a:off x="233369" y="2565399"/>
            <a:ext cx="2691348" cy="2078559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88897216-9800-CDEE-9830-F9194D6B7125}"/>
              </a:ext>
            </a:extLst>
          </p:cNvPr>
          <p:cNvSpPr/>
          <p:nvPr/>
        </p:nvSpPr>
        <p:spPr>
          <a:xfrm flipV="1">
            <a:off x="233369" y="4597398"/>
            <a:ext cx="2691348" cy="2078558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F1F1BA-BA52-5FEC-58FB-1768F5222EC5}"/>
              </a:ext>
            </a:extLst>
          </p:cNvPr>
          <p:cNvSpPr/>
          <p:nvPr/>
        </p:nvSpPr>
        <p:spPr>
          <a:xfrm>
            <a:off x="1222917" y="1062565"/>
            <a:ext cx="1701800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Spoof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EC6B3C-ED96-FFC9-88F8-978F32D200AB}"/>
              </a:ext>
            </a:extLst>
          </p:cNvPr>
          <p:cNvSpPr txBox="1"/>
          <p:nvPr/>
        </p:nvSpPr>
        <p:spPr>
          <a:xfrm>
            <a:off x="233369" y="2853261"/>
            <a:ext cx="25334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</a:t>
            </a:r>
          </a:p>
          <a:p>
            <a:pPr algn="ctr"/>
            <a:r>
              <a:rPr lang="en-US" sz="2000" b="1" dirty="0"/>
              <a:t>real	5,106</a:t>
            </a:r>
          </a:p>
          <a:p>
            <a:pPr algn="ctr"/>
            <a:r>
              <a:rPr lang="en-US" sz="2000" b="1" dirty="0"/>
              <a:t>spoof	 6,271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u="sng" dirty="0"/>
              <a:t>Segregation</a:t>
            </a:r>
          </a:p>
          <a:p>
            <a:pPr algn="ctr"/>
            <a:r>
              <a:rPr lang="en-US" sz="2000" b="1" dirty="0"/>
              <a:t>Train</a:t>
            </a:r>
          </a:p>
          <a:p>
            <a:pPr algn="ctr"/>
            <a:r>
              <a:rPr lang="en-US" sz="2000" b="1" dirty="0"/>
              <a:t>Test</a:t>
            </a:r>
          </a:p>
          <a:p>
            <a:pPr algn="ctr"/>
            <a:r>
              <a:rPr lang="en-US" sz="2000" b="1" dirty="0"/>
              <a:t>Val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11,377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CC374C7-299A-2FED-67C5-00089ADB25E4}"/>
              </a:ext>
            </a:extLst>
          </p:cNvPr>
          <p:cNvSpPr/>
          <p:nvPr/>
        </p:nvSpPr>
        <p:spPr>
          <a:xfrm>
            <a:off x="6547871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E451113F-D841-C1CA-539B-D1C5A0EF474F}"/>
              </a:ext>
            </a:extLst>
          </p:cNvPr>
          <p:cNvSpPr/>
          <p:nvPr/>
        </p:nvSpPr>
        <p:spPr>
          <a:xfrm flipV="1">
            <a:off x="6547871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F2521095-36BC-113C-B566-50DCE934BEF6}"/>
              </a:ext>
            </a:extLst>
          </p:cNvPr>
          <p:cNvSpPr/>
          <p:nvPr/>
        </p:nvSpPr>
        <p:spPr>
          <a:xfrm>
            <a:off x="923921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607A4D2D-25CF-D9FD-942A-0209DE4105B3}"/>
              </a:ext>
            </a:extLst>
          </p:cNvPr>
          <p:cNvSpPr/>
          <p:nvPr/>
        </p:nvSpPr>
        <p:spPr>
          <a:xfrm flipV="1">
            <a:off x="9239219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4569CD-CA27-A09B-C1FC-2DF7F182388F}"/>
              </a:ext>
            </a:extLst>
          </p:cNvPr>
          <p:cNvSpPr txBox="1"/>
          <p:nvPr/>
        </p:nvSpPr>
        <p:spPr>
          <a:xfrm>
            <a:off x="9318591" y="2853263"/>
            <a:ext cx="25334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Final Dataset</a:t>
            </a:r>
          </a:p>
          <a:p>
            <a:pPr algn="ctr"/>
            <a:r>
              <a:rPr lang="en-US" sz="2000" b="1" dirty="0"/>
              <a:t>angry	     1,863</a:t>
            </a:r>
          </a:p>
          <a:p>
            <a:pPr algn="ctr"/>
            <a:r>
              <a:rPr lang="en-US" sz="2000" b="1" dirty="0"/>
              <a:t>disgust	      1,863</a:t>
            </a:r>
          </a:p>
          <a:p>
            <a:pPr algn="ctr"/>
            <a:r>
              <a:rPr lang="en-US" sz="2000" b="1" dirty="0"/>
              <a:t>fear	     1,863</a:t>
            </a:r>
          </a:p>
          <a:p>
            <a:pPr algn="ctr"/>
            <a:r>
              <a:rPr lang="en-US" sz="2000" b="1" dirty="0"/>
              <a:t>happy	    1,863</a:t>
            </a:r>
          </a:p>
          <a:p>
            <a:pPr algn="ctr"/>
            <a:r>
              <a:rPr lang="en-US" sz="2000" b="1" dirty="0"/>
              <a:t>neutral	    1,583</a:t>
            </a:r>
          </a:p>
          <a:p>
            <a:pPr algn="ctr"/>
            <a:r>
              <a:rPr lang="en-US" sz="2000" b="1" dirty="0"/>
              <a:t>sad	   1,863</a:t>
            </a:r>
          </a:p>
          <a:p>
            <a:pPr algn="ctr"/>
            <a:r>
              <a:rPr lang="en-US" sz="2000" b="1" dirty="0"/>
              <a:t>surprise      529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11,427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9C0ECF-919B-40B7-477A-274F16310138}"/>
              </a:ext>
            </a:extLst>
          </p:cNvPr>
          <p:cNvSpPr/>
          <p:nvPr/>
        </p:nvSpPr>
        <p:spPr>
          <a:xfrm>
            <a:off x="9266031" y="1062564"/>
            <a:ext cx="1701800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Voice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D7B0178D-C7B7-74E1-AF13-42BB5DF24404}"/>
              </a:ext>
            </a:extLst>
          </p:cNvPr>
          <p:cNvSpPr/>
          <p:nvPr/>
        </p:nvSpPr>
        <p:spPr>
          <a:xfrm>
            <a:off x="3856523" y="2565394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72DB5F91-EA09-5D0B-71C0-364ECB4B41BB}"/>
              </a:ext>
            </a:extLst>
          </p:cNvPr>
          <p:cNvSpPr/>
          <p:nvPr/>
        </p:nvSpPr>
        <p:spPr>
          <a:xfrm flipV="1">
            <a:off x="3856523" y="4597391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6E829-6373-6035-67C8-680AB886D1D7}"/>
              </a:ext>
            </a:extLst>
          </p:cNvPr>
          <p:cNvSpPr txBox="1"/>
          <p:nvPr/>
        </p:nvSpPr>
        <p:spPr>
          <a:xfrm>
            <a:off x="3935896" y="2853261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Crema</a:t>
            </a:r>
          </a:p>
          <a:p>
            <a:pPr algn="ctr"/>
            <a:r>
              <a:rPr lang="en-US" sz="2000" b="1" dirty="0"/>
              <a:t>SAD, ANG, DIS</a:t>
            </a:r>
          </a:p>
          <a:p>
            <a:pPr algn="ctr"/>
            <a:r>
              <a:rPr lang="en-US" sz="2000" b="1" dirty="0"/>
              <a:t>FEA, HAP, NEU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7,442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D438C4-B5A0-2954-3557-1A4C6F5FA242}"/>
              </a:ext>
            </a:extLst>
          </p:cNvPr>
          <p:cNvSpPr txBox="1"/>
          <p:nvPr/>
        </p:nvSpPr>
        <p:spPr>
          <a:xfrm>
            <a:off x="3856523" y="4756866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</a:t>
            </a:r>
            <a:r>
              <a:rPr lang="en-US" sz="2000" b="1" u="sng" dirty="0" err="1"/>
              <a:t>Savee</a:t>
            </a:r>
            <a:endParaRPr lang="en-US" sz="2000" b="1" u="sng" dirty="0"/>
          </a:p>
          <a:p>
            <a:pPr algn="ctr"/>
            <a:r>
              <a:rPr lang="en-US" sz="2000" b="1" dirty="0"/>
              <a:t>a, d, f, h</a:t>
            </a:r>
          </a:p>
          <a:p>
            <a:pPr algn="ctr"/>
            <a:r>
              <a:rPr lang="en-US" sz="2000" b="1" dirty="0"/>
              <a:t>n, </a:t>
            </a:r>
            <a:r>
              <a:rPr lang="en-US" sz="2000" b="1" dirty="0" err="1"/>
              <a:t>sa</a:t>
            </a:r>
            <a:r>
              <a:rPr lang="en-US" sz="2000" b="1" dirty="0"/>
              <a:t>, </a:t>
            </a:r>
            <a:r>
              <a:rPr lang="en-US" sz="2000" b="1" dirty="0" err="1"/>
              <a:t>su</a:t>
            </a:r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480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6785D-D8A5-2733-74D2-2B1E9BB2D070}"/>
              </a:ext>
            </a:extLst>
          </p:cNvPr>
          <p:cNvSpPr txBox="1"/>
          <p:nvPr/>
        </p:nvSpPr>
        <p:spPr>
          <a:xfrm>
            <a:off x="6547871" y="2853261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</a:t>
            </a:r>
            <a:r>
              <a:rPr lang="en-US" sz="2000" b="1" u="sng" dirty="0" err="1"/>
              <a:t>Ravdess</a:t>
            </a:r>
            <a:endParaRPr lang="en-US" sz="2000" b="1" u="sng" dirty="0"/>
          </a:p>
          <a:p>
            <a:pPr algn="ctr"/>
            <a:r>
              <a:rPr lang="en-US" sz="2000" b="1" dirty="0"/>
              <a:t>01, 02, 03, 04</a:t>
            </a:r>
          </a:p>
          <a:p>
            <a:pPr algn="ctr"/>
            <a:r>
              <a:rPr lang="en-US" sz="2000" b="1" dirty="0"/>
              <a:t>05, 06, 07, 08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1,440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7D241A-52C1-59FB-1402-FFE3B0F554F2}"/>
              </a:ext>
            </a:extLst>
          </p:cNvPr>
          <p:cNvSpPr txBox="1"/>
          <p:nvPr/>
        </p:nvSpPr>
        <p:spPr>
          <a:xfrm>
            <a:off x="6547871" y="4756866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Tess</a:t>
            </a:r>
          </a:p>
          <a:p>
            <a:pPr algn="ctr"/>
            <a:r>
              <a:rPr lang="en-US" sz="2000" b="1" dirty="0"/>
              <a:t>(SAD, ANG, DIS, FEA</a:t>
            </a:r>
          </a:p>
          <a:p>
            <a:pPr algn="ctr"/>
            <a:r>
              <a:rPr lang="en-US" sz="2000" b="1" dirty="0"/>
              <a:t>HAP, NEU) x 2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2,800</a:t>
            </a:r>
          </a:p>
        </p:txBody>
      </p:sp>
    </p:spTree>
    <p:extLst>
      <p:ext uri="{BB962C8B-B14F-4D97-AF65-F5344CB8AC3E}">
        <p14:creationId xmlns:p14="http://schemas.microsoft.com/office/powerpoint/2010/main" val="1731598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6DC5-3E36-F7AD-A857-991C818E2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FA1429-DE40-FA1A-B133-7D754BCB6D39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34B9E-CD00-B7B8-AC8F-01AD51894247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 ENCOUNTERED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536B7610-C7CF-FA1C-65C7-6B95DACE4B1C}"/>
              </a:ext>
            </a:extLst>
          </p:cNvPr>
          <p:cNvSpPr/>
          <p:nvPr/>
        </p:nvSpPr>
        <p:spPr>
          <a:xfrm>
            <a:off x="233369" y="2565399"/>
            <a:ext cx="2691348" cy="2078559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1BBB5AC-E731-D4AF-9197-FE5A1E9155F5}"/>
              </a:ext>
            </a:extLst>
          </p:cNvPr>
          <p:cNvSpPr/>
          <p:nvPr/>
        </p:nvSpPr>
        <p:spPr>
          <a:xfrm flipV="1">
            <a:off x="233369" y="4597398"/>
            <a:ext cx="2691348" cy="2078558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3B0AFA-950A-19D8-932A-7E39761CD7E9}"/>
              </a:ext>
            </a:extLst>
          </p:cNvPr>
          <p:cNvSpPr/>
          <p:nvPr/>
        </p:nvSpPr>
        <p:spPr>
          <a:xfrm>
            <a:off x="1418166" y="1058332"/>
            <a:ext cx="1701800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22DAE3-65C8-C4D8-EF1C-EF2AAC8EF2B3}"/>
              </a:ext>
            </a:extLst>
          </p:cNvPr>
          <p:cNvSpPr txBox="1"/>
          <p:nvPr/>
        </p:nvSpPr>
        <p:spPr>
          <a:xfrm>
            <a:off x="312742" y="2853265"/>
            <a:ext cx="2533470" cy="3170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1</a:t>
            </a:r>
          </a:p>
          <a:p>
            <a:pPr algn="ctr"/>
            <a:r>
              <a:rPr lang="en-US" sz="2000" b="1" dirty="0"/>
              <a:t>angry	   5,920</a:t>
            </a:r>
          </a:p>
          <a:p>
            <a:pPr algn="ctr"/>
            <a:r>
              <a:rPr lang="en-US" sz="2000" b="1" dirty="0"/>
              <a:t>disgust	   5,920</a:t>
            </a:r>
          </a:p>
          <a:p>
            <a:pPr algn="ctr"/>
            <a:r>
              <a:rPr lang="en-US" sz="2000" b="1" dirty="0"/>
              <a:t>fear	   5,920</a:t>
            </a:r>
          </a:p>
          <a:p>
            <a:pPr algn="ctr"/>
            <a:r>
              <a:rPr lang="en-US" sz="2000" b="1" dirty="0"/>
              <a:t>happy	 11,398</a:t>
            </a:r>
          </a:p>
          <a:p>
            <a:pPr algn="ctr"/>
            <a:r>
              <a:rPr lang="en-US" sz="2000" b="1" dirty="0"/>
              <a:t>neutral	    8,166</a:t>
            </a:r>
          </a:p>
          <a:p>
            <a:pPr algn="ctr"/>
            <a:r>
              <a:rPr lang="en-US" sz="2000" b="1" dirty="0"/>
              <a:t>sad	    6,535</a:t>
            </a:r>
          </a:p>
          <a:p>
            <a:pPr algn="ctr"/>
            <a:r>
              <a:rPr lang="en-US" sz="2000" b="1" dirty="0"/>
              <a:t>surprise   5,920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32,019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58A37646-45E1-88F5-8389-E8CAC716D166}"/>
              </a:ext>
            </a:extLst>
          </p:cNvPr>
          <p:cNvSpPr/>
          <p:nvPr/>
        </p:nvSpPr>
        <p:spPr>
          <a:xfrm>
            <a:off x="323531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3A501C5F-90FA-6B48-0096-A639611E1C20}"/>
              </a:ext>
            </a:extLst>
          </p:cNvPr>
          <p:cNvSpPr/>
          <p:nvPr/>
        </p:nvSpPr>
        <p:spPr>
          <a:xfrm flipV="1">
            <a:off x="3235319" y="4597393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530255-9EBC-3B6C-F362-7D526D71E160}"/>
              </a:ext>
            </a:extLst>
          </p:cNvPr>
          <p:cNvSpPr txBox="1"/>
          <p:nvPr/>
        </p:nvSpPr>
        <p:spPr>
          <a:xfrm>
            <a:off x="3314692" y="2853263"/>
            <a:ext cx="25334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2</a:t>
            </a:r>
          </a:p>
          <a:p>
            <a:pPr algn="ctr"/>
            <a:r>
              <a:rPr lang="en-US" sz="2000" b="1" dirty="0"/>
              <a:t>angry	   4,953</a:t>
            </a:r>
          </a:p>
          <a:p>
            <a:pPr algn="ctr"/>
            <a:r>
              <a:rPr lang="en-US" sz="2000" b="1" dirty="0"/>
              <a:t>disgust	       547</a:t>
            </a:r>
          </a:p>
          <a:p>
            <a:pPr algn="ctr"/>
            <a:r>
              <a:rPr lang="en-US" sz="2000" b="1" dirty="0"/>
              <a:t>fear	   5,121</a:t>
            </a:r>
          </a:p>
          <a:p>
            <a:pPr algn="ctr"/>
            <a:r>
              <a:rPr lang="en-US" sz="2000" b="1" dirty="0"/>
              <a:t>happy	   8,989</a:t>
            </a:r>
          </a:p>
          <a:p>
            <a:pPr algn="ctr"/>
            <a:r>
              <a:rPr lang="en-US" sz="2000" b="1" dirty="0"/>
              <a:t>neutral	   6,198</a:t>
            </a:r>
          </a:p>
          <a:p>
            <a:pPr algn="ctr"/>
            <a:r>
              <a:rPr lang="en-US" sz="2000" b="1" dirty="0"/>
              <a:t>sad	   6,077</a:t>
            </a:r>
          </a:p>
          <a:p>
            <a:pPr algn="ctr"/>
            <a:r>
              <a:rPr lang="en-US" sz="2000" b="1" dirty="0"/>
              <a:t>surprised  4,002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35,887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763C13CF-8990-F014-54A5-8327698621C3}"/>
              </a:ext>
            </a:extLst>
          </p:cNvPr>
          <p:cNvSpPr/>
          <p:nvPr/>
        </p:nvSpPr>
        <p:spPr>
          <a:xfrm>
            <a:off x="623726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0F6C67E6-213D-B2D2-8BCC-C1CA1888C37E}"/>
              </a:ext>
            </a:extLst>
          </p:cNvPr>
          <p:cNvSpPr/>
          <p:nvPr/>
        </p:nvSpPr>
        <p:spPr>
          <a:xfrm flipV="1">
            <a:off x="6237269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4C42A0-1C9C-60B2-7254-C7CC4A42E03A}"/>
              </a:ext>
            </a:extLst>
          </p:cNvPr>
          <p:cNvSpPr txBox="1"/>
          <p:nvPr/>
        </p:nvSpPr>
        <p:spPr>
          <a:xfrm>
            <a:off x="6316641" y="2853263"/>
            <a:ext cx="25334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3</a:t>
            </a:r>
          </a:p>
          <a:p>
            <a:pPr algn="ctr"/>
            <a:r>
              <a:rPr lang="en-US" sz="2000" b="1" dirty="0"/>
              <a:t>Angry	   10,148</a:t>
            </a:r>
          </a:p>
          <a:p>
            <a:pPr algn="ctr"/>
            <a:r>
              <a:rPr lang="en-US" sz="2000" b="1" dirty="0"/>
              <a:t>Fear	     9,732</a:t>
            </a:r>
          </a:p>
          <a:p>
            <a:pPr algn="ctr"/>
            <a:r>
              <a:rPr lang="en-US" sz="2000" b="1" dirty="0"/>
              <a:t>Happy	   18,439</a:t>
            </a:r>
          </a:p>
          <a:p>
            <a:pPr algn="ctr"/>
            <a:r>
              <a:rPr lang="en-US" sz="2000" b="1" dirty="0"/>
              <a:t>Sad	   12,553</a:t>
            </a:r>
          </a:p>
          <a:p>
            <a:pPr algn="ctr"/>
            <a:r>
              <a:rPr lang="en-US" sz="2000" b="1" dirty="0"/>
              <a:t>Surprise     8,227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59,099</a:t>
            </a: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A519ACA-D497-9166-FE9F-12400F218D66}"/>
              </a:ext>
            </a:extLst>
          </p:cNvPr>
          <p:cNvSpPr/>
          <p:nvPr/>
        </p:nvSpPr>
        <p:spPr>
          <a:xfrm>
            <a:off x="923921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E5A58802-6463-DB71-85D3-76F5BBE4752F}"/>
              </a:ext>
            </a:extLst>
          </p:cNvPr>
          <p:cNvSpPr/>
          <p:nvPr/>
        </p:nvSpPr>
        <p:spPr>
          <a:xfrm flipV="1">
            <a:off x="9239219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F456EA-B423-A0A2-C3A7-0E65972B7DFF}"/>
              </a:ext>
            </a:extLst>
          </p:cNvPr>
          <p:cNvSpPr txBox="1"/>
          <p:nvPr/>
        </p:nvSpPr>
        <p:spPr>
          <a:xfrm>
            <a:off x="9318591" y="2853263"/>
            <a:ext cx="25334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Final Dataset</a:t>
            </a:r>
          </a:p>
          <a:p>
            <a:pPr algn="ctr"/>
            <a:r>
              <a:rPr lang="en-US" sz="2000" b="1" dirty="0"/>
              <a:t>angry	     9,915</a:t>
            </a:r>
          </a:p>
          <a:p>
            <a:pPr algn="ctr"/>
            <a:r>
              <a:rPr lang="en-US" sz="2000" b="1" dirty="0"/>
              <a:t>disgust	      6,356</a:t>
            </a:r>
          </a:p>
          <a:p>
            <a:pPr algn="ctr"/>
            <a:r>
              <a:rPr lang="en-US" sz="2000" b="1" dirty="0"/>
              <a:t>fear	   10,017</a:t>
            </a:r>
          </a:p>
          <a:p>
            <a:pPr algn="ctr"/>
            <a:r>
              <a:rPr lang="en-US" sz="2000" b="1" dirty="0"/>
              <a:t>happy	  18,613</a:t>
            </a:r>
          </a:p>
          <a:p>
            <a:pPr algn="ctr"/>
            <a:r>
              <a:rPr lang="en-US" sz="2000" b="1" dirty="0"/>
              <a:t>neutral	   13,131</a:t>
            </a:r>
          </a:p>
          <a:p>
            <a:pPr algn="ctr"/>
            <a:r>
              <a:rPr lang="en-US" sz="2000" b="1" dirty="0"/>
              <a:t>sad	    11,365</a:t>
            </a:r>
          </a:p>
          <a:p>
            <a:pPr algn="ctr"/>
            <a:r>
              <a:rPr lang="en-US" sz="2000" b="1" dirty="0"/>
              <a:t>surprise      9,091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78,488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AE2CC0-808C-B36B-343F-39729F7D0539}"/>
              </a:ext>
            </a:extLst>
          </p:cNvPr>
          <p:cNvSpPr/>
          <p:nvPr/>
        </p:nvSpPr>
        <p:spPr>
          <a:xfrm>
            <a:off x="533400" y="5011924"/>
            <a:ext cx="1261534" cy="3979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FE67EF-2A4B-F4F9-C005-1FF0385896C4}"/>
              </a:ext>
            </a:extLst>
          </p:cNvPr>
          <p:cNvSpPr/>
          <p:nvPr/>
        </p:nvSpPr>
        <p:spPr>
          <a:xfrm>
            <a:off x="3513667" y="5011924"/>
            <a:ext cx="1346200" cy="4829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147293-AC8E-625C-D3E0-B54C35EF28BB}"/>
              </a:ext>
            </a:extLst>
          </p:cNvPr>
          <p:cNvSpPr/>
          <p:nvPr/>
        </p:nvSpPr>
        <p:spPr>
          <a:xfrm>
            <a:off x="6409266" y="4377267"/>
            <a:ext cx="1363133" cy="43179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EAB756-A672-854B-6DD6-A51737A6CA01}"/>
              </a:ext>
            </a:extLst>
          </p:cNvPr>
          <p:cNvSpPr txBox="1"/>
          <p:nvPr/>
        </p:nvSpPr>
        <p:spPr>
          <a:xfrm>
            <a:off x="312742" y="5011924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1FA873-0B6F-1B65-54AF-22613885E449}"/>
              </a:ext>
            </a:extLst>
          </p:cNvPr>
          <p:cNvSpPr txBox="1"/>
          <p:nvPr/>
        </p:nvSpPr>
        <p:spPr>
          <a:xfrm>
            <a:off x="3297693" y="5061020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D0C532-0127-3240-43D5-FA17CB219D7D}"/>
              </a:ext>
            </a:extLst>
          </p:cNvPr>
          <p:cNvSpPr txBox="1"/>
          <p:nvPr/>
        </p:nvSpPr>
        <p:spPr>
          <a:xfrm>
            <a:off x="6178097" y="4445211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6758B-04E9-2FCE-8FC9-22CB18EB919D}"/>
              </a:ext>
            </a:extLst>
          </p:cNvPr>
          <p:cNvSpPr txBox="1"/>
          <p:nvPr/>
        </p:nvSpPr>
        <p:spPr>
          <a:xfrm>
            <a:off x="9274115" y="4964326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03FA60-97FB-5196-E651-C69482316DF5}"/>
              </a:ext>
            </a:extLst>
          </p:cNvPr>
          <p:cNvSpPr/>
          <p:nvPr/>
        </p:nvSpPr>
        <p:spPr>
          <a:xfrm>
            <a:off x="9534963" y="4998553"/>
            <a:ext cx="1210470" cy="431799"/>
          </a:xfrm>
          <a:prstGeom prst="ellipse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C1BDFB-8822-F180-A7E8-DAA1596BA6ED}"/>
              </a:ext>
            </a:extLst>
          </p:cNvPr>
          <p:cNvSpPr txBox="1"/>
          <p:nvPr/>
        </p:nvSpPr>
        <p:spPr>
          <a:xfrm>
            <a:off x="1113234" y="2299950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883E76-AAAF-BF29-0D32-D885B9CC21DC}"/>
              </a:ext>
            </a:extLst>
          </p:cNvPr>
          <p:cNvSpPr txBox="1"/>
          <p:nvPr/>
        </p:nvSpPr>
        <p:spPr>
          <a:xfrm>
            <a:off x="3961127" y="2299950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0883F0-3C23-F963-F203-1A8310ED5944}"/>
              </a:ext>
            </a:extLst>
          </p:cNvPr>
          <p:cNvSpPr txBox="1"/>
          <p:nvPr/>
        </p:nvSpPr>
        <p:spPr>
          <a:xfrm>
            <a:off x="7015776" y="2265505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 classes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C654A7-40E0-9947-74B5-8CE87758292B}"/>
              </a:ext>
            </a:extLst>
          </p:cNvPr>
          <p:cNvSpPr txBox="1"/>
          <p:nvPr/>
        </p:nvSpPr>
        <p:spPr>
          <a:xfrm>
            <a:off x="930986" y="2299950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2B9055-634C-EADD-59D2-756ACCBA4804}"/>
              </a:ext>
            </a:extLst>
          </p:cNvPr>
          <p:cNvSpPr txBox="1"/>
          <p:nvPr/>
        </p:nvSpPr>
        <p:spPr>
          <a:xfrm>
            <a:off x="3778879" y="2299950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72569B-DE08-A5AB-05E4-82A3C4463F5F}"/>
              </a:ext>
            </a:extLst>
          </p:cNvPr>
          <p:cNvSpPr txBox="1"/>
          <p:nvPr/>
        </p:nvSpPr>
        <p:spPr>
          <a:xfrm>
            <a:off x="6812362" y="2271981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345972-E59A-2E4E-D815-7BE6DB60F60B}"/>
              </a:ext>
            </a:extLst>
          </p:cNvPr>
          <p:cNvSpPr txBox="1"/>
          <p:nvPr/>
        </p:nvSpPr>
        <p:spPr>
          <a:xfrm>
            <a:off x="10045915" y="2282152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 classes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D015E9-15AC-0F92-00C5-9E92575A4F59}"/>
              </a:ext>
            </a:extLst>
          </p:cNvPr>
          <p:cNvSpPr txBox="1"/>
          <p:nvPr/>
        </p:nvSpPr>
        <p:spPr>
          <a:xfrm>
            <a:off x="9845845" y="2239108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6D075D-6355-D1E4-F974-F21CB36EEB9A}"/>
              </a:ext>
            </a:extLst>
          </p:cNvPr>
          <p:cNvSpPr/>
          <p:nvPr/>
        </p:nvSpPr>
        <p:spPr>
          <a:xfrm>
            <a:off x="1659467" y="3200400"/>
            <a:ext cx="865905" cy="21808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2138A2-7F8C-0F8E-FDB3-DF83BBFD6635}"/>
              </a:ext>
            </a:extLst>
          </p:cNvPr>
          <p:cNvSpPr/>
          <p:nvPr/>
        </p:nvSpPr>
        <p:spPr>
          <a:xfrm>
            <a:off x="4697688" y="3200400"/>
            <a:ext cx="865905" cy="21808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7BE30E-AB0E-1E0D-F1B1-AAAC582E9CC7}"/>
              </a:ext>
            </a:extLst>
          </p:cNvPr>
          <p:cNvSpPr/>
          <p:nvPr/>
        </p:nvSpPr>
        <p:spPr>
          <a:xfrm>
            <a:off x="7669013" y="3200400"/>
            <a:ext cx="865905" cy="16086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B13565-B65D-C9CA-194F-E93C0EDB4D65}"/>
              </a:ext>
            </a:extLst>
          </p:cNvPr>
          <p:cNvSpPr txBox="1"/>
          <p:nvPr/>
        </p:nvSpPr>
        <p:spPr>
          <a:xfrm>
            <a:off x="2253808" y="2896527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87B585-A4FC-8C3F-30AF-C04BA3A15078}"/>
              </a:ext>
            </a:extLst>
          </p:cNvPr>
          <p:cNvSpPr txBox="1"/>
          <p:nvPr/>
        </p:nvSpPr>
        <p:spPr>
          <a:xfrm>
            <a:off x="5176226" y="2861987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61B426-B0FA-CCA0-E6E7-E891EEA0684D}"/>
              </a:ext>
            </a:extLst>
          </p:cNvPr>
          <p:cNvSpPr txBox="1"/>
          <p:nvPr/>
        </p:nvSpPr>
        <p:spPr>
          <a:xfrm>
            <a:off x="8229593" y="2888837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25988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9B2C7-3543-54B6-769D-CF8BF37B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985D7D-954B-5702-02C2-7348B682C4B5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31307-850F-A4E6-8E13-6ADA83F1C345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 ENCOUNTERED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5591E570-C53C-7262-26F6-1B2286CFF1D8}"/>
              </a:ext>
            </a:extLst>
          </p:cNvPr>
          <p:cNvSpPr/>
          <p:nvPr/>
        </p:nvSpPr>
        <p:spPr>
          <a:xfrm>
            <a:off x="233369" y="2565399"/>
            <a:ext cx="2691348" cy="2078559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14672BF9-C77C-6F19-5F28-4BDE82E0040D}"/>
              </a:ext>
            </a:extLst>
          </p:cNvPr>
          <p:cNvSpPr/>
          <p:nvPr/>
        </p:nvSpPr>
        <p:spPr>
          <a:xfrm flipV="1">
            <a:off x="233369" y="4597398"/>
            <a:ext cx="2691348" cy="2078558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C82663-6BE7-C7C4-E089-5754A308B34C}"/>
              </a:ext>
            </a:extLst>
          </p:cNvPr>
          <p:cNvSpPr/>
          <p:nvPr/>
        </p:nvSpPr>
        <p:spPr>
          <a:xfrm>
            <a:off x="1222917" y="1062565"/>
            <a:ext cx="1701800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Spoof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1B16CA-1B7E-AB9B-9349-25BCEB36F0E3}"/>
              </a:ext>
            </a:extLst>
          </p:cNvPr>
          <p:cNvSpPr txBox="1"/>
          <p:nvPr/>
        </p:nvSpPr>
        <p:spPr>
          <a:xfrm>
            <a:off x="233369" y="2853261"/>
            <a:ext cx="25334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</a:t>
            </a:r>
          </a:p>
          <a:p>
            <a:pPr algn="ctr"/>
            <a:r>
              <a:rPr lang="en-US" sz="2000" b="1" dirty="0"/>
              <a:t>real	5,106</a:t>
            </a:r>
          </a:p>
          <a:p>
            <a:pPr algn="ctr"/>
            <a:r>
              <a:rPr lang="en-US" sz="2000" b="1" dirty="0"/>
              <a:t>spoof	 6,271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u="sng" dirty="0"/>
              <a:t>Segregation</a:t>
            </a:r>
          </a:p>
          <a:p>
            <a:pPr algn="ctr"/>
            <a:r>
              <a:rPr lang="en-US" sz="2000" b="1" dirty="0"/>
              <a:t>Train</a:t>
            </a:r>
          </a:p>
          <a:p>
            <a:pPr algn="ctr"/>
            <a:r>
              <a:rPr lang="en-US" sz="2000" b="1" dirty="0"/>
              <a:t>Test</a:t>
            </a:r>
          </a:p>
          <a:p>
            <a:pPr algn="ctr"/>
            <a:r>
              <a:rPr lang="en-US" sz="2000" b="1" dirty="0"/>
              <a:t>Val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11,377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DEAC7453-C72C-254A-D51C-FFCA919CE974}"/>
              </a:ext>
            </a:extLst>
          </p:cNvPr>
          <p:cNvSpPr/>
          <p:nvPr/>
        </p:nvSpPr>
        <p:spPr>
          <a:xfrm>
            <a:off x="6547871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04AD37E0-D9E4-321F-F5B7-6762EAB7C371}"/>
              </a:ext>
            </a:extLst>
          </p:cNvPr>
          <p:cNvSpPr/>
          <p:nvPr/>
        </p:nvSpPr>
        <p:spPr>
          <a:xfrm flipV="1">
            <a:off x="6547871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901FEB00-D808-CC15-E3FF-2D99968E0E4A}"/>
              </a:ext>
            </a:extLst>
          </p:cNvPr>
          <p:cNvSpPr/>
          <p:nvPr/>
        </p:nvSpPr>
        <p:spPr>
          <a:xfrm>
            <a:off x="923921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DC17E4AB-1795-EC40-CF98-88DFFB05DA5D}"/>
              </a:ext>
            </a:extLst>
          </p:cNvPr>
          <p:cNvSpPr/>
          <p:nvPr/>
        </p:nvSpPr>
        <p:spPr>
          <a:xfrm flipV="1">
            <a:off x="9239219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48175C-5E91-7410-0444-E7C289171C36}"/>
              </a:ext>
            </a:extLst>
          </p:cNvPr>
          <p:cNvSpPr txBox="1"/>
          <p:nvPr/>
        </p:nvSpPr>
        <p:spPr>
          <a:xfrm>
            <a:off x="9318591" y="2853263"/>
            <a:ext cx="25334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Final Dataset</a:t>
            </a:r>
          </a:p>
          <a:p>
            <a:pPr algn="ctr"/>
            <a:r>
              <a:rPr lang="en-US" sz="2000" b="1" dirty="0"/>
              <a:t>angry	     1,863</a:t>
            </a:r>
          </a:p>
          <a:p>
            <a:pPr algn="ctr"/>
            <a:r>
              <a:rPr lang="en-US" sz="2000" b="1" dirty="0"/>
              <a:t>disgust	      1,863</a:t>
            </a:r>
          </a:p>
          <a:p>
            <a:pPr algn="ctr"/>
            <a:r>
              <a:rPr lang="en-US" sz="2000" b="1" dirty="0"/>
              <a:t>fear	     1,863</a:t>
            </a:r>
          </a:p>
          <a:p>
            <a:pPr algn="ctr"/>
            <a:r>
              <a:rPr lang="en-US" sz="2000" b="1" dirty="0"/>
              <a:t>happy	    1,863</a:t>
            </a:r>
          </a:p>
          <a:p>
            <a:pPr algn="ctr"/>
            <a:r>
              <a:rPr lang="en-US" sz="2000" b="1" dirty="0"/>
              <a:t>neutral	    1,583</a:t>
            </a:r>
          </a:p>
          <a:p>
            <a:pPr algn="ctr"/>
            <a:r>
              <a:rPr lang="en-US" sz="2000" b="1" dirty="0"/>
              <a:t>sad	   1,863</a:t>
            </a:r>
          </a:p>
          <a:p>
            <a:pPr algn="ctr"/>
            <a:r>
              <a:rPr lang="en-US" sz="2000" b="1" dirty="0"/>
              <a:t>surprise      529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11,427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06BCED-D00E-7B73-48CC-1193CA2E1742}"/>
              </a:ext>
            </a:extLst>
          </p:cNvPr>
          <p:cNvSpPr/>
          <p:nvPr/>
        </p:nvSpPr>
        <p:spPr>
          <a:xfrm>
            <a:off x="9266031" y="1062564"/>
            <a:ext cx="1701800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Voice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FD9BB581-7D50-F65C-8214-4E3B3BAA939E}"/>
              </a:ext>
            </a:extLst>
          </p:cNvPr>
          <p:cNvSpPr/>
          <p:nvPr/>
        </p:nvSpPr>
        <p:spPr>
          <a:xfrm>
            <a:off x="3856523" y="2565394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EF292A49-FA0A-07F2-B295-9151CE84F8DE}"/>
              </a:ext>
            </a:extLst>
          </p:cNvPr>
          <p:cNvSpPr/>
          <p:nvPr/>
        </p:nvSpPr>
        <p:spPr>
          <a:xfrm flipV="1">
            <a:off x="3856523" y="4597391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D58A9-E436-3680-08CB-0692194BFD87}"/>
              </a:ext>
            </a:extLst>
          </p:cNvPr>
          <p:cNvSpPr txBox="1"/>
          <p:nvPr/>
        </p:nvSpPr>
        <p:spPr>
          <a:xfrm>
            <a:off x="3935896" y="2853261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Crema</a:t>
            </a:r>
          </a:p>
          <a:p>
            <a:pPr algn="ctr"/>
            <a:r>
              <a:rPr lang="en-US" sz="2000" b="1" dirty="0"/>
              <a:t>SAD, ANG, DIS</a:t>
            </a:r>
          </a:p>
          <a:p>
            <a:pPr algn="ctr"/>
            <a:r>
              <a:rPr lang="en-US" sz="2000" b="1" dirty="0"/>
              <a:t>FEA, HAP, NEU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7,442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C270CE-1C3E-3ED6-FB30-5144B098CDC2}"/>
              </a:ext>
            </a:extLst>
          </p:cNvPr>
          <p:cNvSpPr txBox="1"/>
          <p:nvPr/>
        </p:nvSpPr>
        <p:spPr>
          <a:xfrm>
            <a:off x="3856523" y="4756866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</a:t>
            </a:r>
            <a:r>
              <a:rPr lang="en-US" sz="2000" b="1" u="sng" dirty="0" err="1"/>
              <a:t>Savee</a:t>
            </a:r>
            <a:endParaRPr lang="en-US" sz="2000" b="1" u="sng" dirty="0"/>
          </a:p>
          <a:p>
            <a:pPr algn="ctr"/>
            <a:r>
              <a:rPr lang="en-US" sz="2000" b="1" dirty="0"/>
              <a:t>a, d, f, h</a:t>
            </a:r>
          </a:p>
          <a:p>
            <a:pPr algn="ctr"/>
            <a:r>
              <a:rPr lang="en-US" sz="2000" b="1" dirty="0"/>
              <a:t>n, </a:t>
            </a:r>
            <a:r>
              <a:rPr lang="en-US" sz="2000" b="1" dirty="0" err="1"/>
              <a:t>sa</a:t>
            </a:r>
            <a:r>
              <a:rPr lang="en-US" sz="2000" b="1" dirty="0"/>
              <a:t>, </a:t>
            </a:r>
            <a:r>
              <a:rPr lang="en-US" sz="2000" b="1" dirty="0" err="1"/>
              <a:t>su</a:t>
            </a:r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480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0843E1-5DC2-848B-F8EC-5E3306F3A42C}"/>
              </a:ext>
            </a:extLst>
          </p:cNvPr>
          <p:cNvSpPr txBox="1"/>
          <p:nvPr/>
        </p:nvSpPr>
        <p:spPr>
          <a:xfrm>
            <a:off x="6547871" y="2853261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</a:t>
            </a:r>
            <a:r>
              <a:rPr lang="en-US" sz="2000" b="1" u="sng" dirty="0" err="1"/>
              <a:t>Ravdess</a:t>
            </a:r>
            <a:endParaRPr lang="en-US" sz="2000" b="1" u="sng" dirty="0"/>
          </a:p>
          <a:p>
            <a:pPr algn="ctr"/>
            <a:r>
              <a:rPr lang="en-US" sz="2000" b="1" dirty="0"/>
              <a:t>01, 02, 03, 04</a:t>
            </a:r>
          </a:p>
          <a:p>
            <a:pPr algn="ctr"/>
            <a:r>
              <a:rPr lang="en-US" sz="2000" b="1" dirty="0"/>
              <a:t>05, 06, 07, 08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1,440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3D3A6C-78F7-F920-54D3-E380D67724D0}"/>
              </a:ext>
            </a:extLst>
          </p:cNvPr>
          <p:cNvSpPr txBox="1"/>
          <p:nvPr/>
        </p:nvSpPr>
        <p:spPr>
          <a:xfrm>
            <a:off x="6547871" y="4756866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Tess</a:t>
            </a:r>
          </a:p>
          <a:p>
            <a:pPr algn="ctr"/>
            <a:r>
              <a:rPr lang="en-US" sz="2000" b="1" dirty="0"/>
              <a:t>(SAD, ANG, DIS, FEA</a:t>
            </a:r>
          </a:p>
          <a:p>
            <a:pPr algn="ctr"/>
            <a:r>
              <a:rPr lang="en-US" sz="2000" b="1" dirty="0"/>
              <a:t>HAP, NEU) x 2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2,800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6B76A0-DD15-017A-546F-FDE94E3A57ED}"/>
              </a:ext>
            </a:extLst>
          </p:cNvPr>
          <p:cNvSpPr/>
          <p:nvPr/>
        </p:nvSpPr>
        <p:spPr>
          <a:xfrm>
            <a:off x="10745119" y="4426708"/>
            <a:ext cx="865905" cy="10244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1FBD12-57D8-0B73-95A5-385F530D6487}"/>
              </a:ext>
            </a:extLst>
          </p:cNvPr>
          <p:cNvSpPr txBox="1"/>
          <p:nvPr/>
        </p:nvSpPr>
        <p:spPr>
          <a:xfrm>
            <a:off x="11305699" y="5475285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82A206-DF19-49E4-E24A-98B55F512417}"/>
              </a:ext>
            </a:extLst>
          </p:cNvPr>
          <p:cNvSpPr/>
          <p:nvPr/>
        </p:nvSpPr>
        <p:spPr>
          <a:xfrm>
            <a:off x="4257353" y="3227193"/>
            <a:ext cx="1838647" cy="5574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8E0B2C-376A-8287-C9B8-90C6E886457D}"/>
              </a:ext>
            </a:extLst>
          </p:cNvPr>
          <p:cNvSpPr/>
          <p:nvPr/>
        </p:nvSpPr>
        <p:spPr>
          <a:xfrm>
            <a:off x="6869328" y="3227193"/>
            <a:ext cx="1838647" cy="5574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067350-B71A-4D7A-EA9D-CDA809ED6CB5}"/>
              </a:ext>
            </a:extLst>
          </p:cNvPr>
          <p:cNvSpPr/>
          <p:nvPr/>
        </p:nvSpPr>
        <p:spPr>
          <a:xfrm>
            <a:off x="6627243" y="5079260"/>
            <a:ext cx="2370939" cy="6611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340B83-436B-F863-5875-4C561AC49AB4}"/>
              </a:ext>
            </a:extLst>
          </p:cNvPr>
          <p:cNvSpPr/>
          <p:nvPr/>
        </p:nvSpPr>
        <p:spPr>
          <a:xfrm>
            <a:off x="4468188" y="5102541"/>
            <a:ext cx="1356880" cy="6378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6598E4-41AC-D546-23E8-ADE9C9F74EA8}"/>
              </a:ext>
            </a:extLst>
          </p:cNvPr>
          <p:cNvSpPr txBox="1"/>
          <p:nvPr/>
        </p:nvSpPr>
        <p:spPr>
          <a:xfrm>
            <a:off x="6098493" y="3604673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2B6F99-0F71-5D6D-6561-F65140BF9808}"/>
              </a:ext>
            </a:extLst>
          </p:cNvPr>
          <p:cNvSpPr txBox="1"/>
          <p:nvPr/>
        </p:nvSpPr>
        <p:spPr>
          <a:xfrm>
            <a:off x="8724107" y="3617358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FBF981-741F-1C33-FC67-2DB2AEDA35B8}"/>
              </a:ext>
            </a:extLst>
          </p:cNvPr>
          <p:cNvSpPr txBox="1"/>
          <p:nvPr/>
        </p:nvSpPr>
        <p:spPr>
          <a:xfrm>
            <a:off x="8697792" y="5735196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2B9D99-71E5-6057-7A25-160864F193E0}"/>
              </a:ext>
            </a:extLst>
          </p:cNvPr>
          <p:cNvSpPr txBox="1"/>
          <p:nvPr/>
        </p:nvSpPr>
        <p:spPr>
          <a:xfrm>
            <a:off x="5830283" y="5559755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1CE109-2122-E045-A378-EBBE432CCCC5}"/>
              </a:ext>
            </a:extLst>
          </p:cNvPr>
          <p:cNvSpPr/>
          <p:nvPr/>
        </p:nvSpPr>
        <p:spPr>
          <a:xfrm>
            <a:off x="9560676" y="3253827"/>
            <a:ext cx="1184443" cy="2080173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8B4AA7-CD8C-1C4D-CA3F-233E2D1C174F}"/>
              </a:ext>
            </a:extLst>
          </p:cNvPr>
          <p:cNvSpPr txBox="1"/>
          <p:nvPr/>
        </p:nvSpPr>
        <p:spPr>
          <a:xfrm>
            <a:off x="9474689" y="2953828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0B7CB-439B-CAF6-4532-5BDAC60304A6}"/>
              </a:ext>
            </a:extLst>
          </p:cNvPr>
          <p:cNvSpPr txBox="1"/>
          <p:nvPr/>
        </p:nvSpPr>
        <p:spPr>
          <a:xfrm>
            <a:off x="4775745" y="2584496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E18AC3-15F8-055E-D54D-6D970B92EDB8}"/>
              </a:ext>
            </a:extLst>
          </p:cNvPr>
          <p:cNvSpPr txBox="1"/>
          <p:nvPr/>
        </p:nvSpPr>
        <p:spPr>
          <a:xfrm>
            <a:off x="4593497" y="2584496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22A02C-0665-922F-80C1-CABC0FF1B6F4}"/>
              </a:ext>
            </a:extLst>
          </p:cNvPr>
          <p:cNvSpPr txBox="1"/>
          <p:nvPr/>
        </p:nvSpPr>
        <p:spPr>
          <a:xfrm>
            <a:off x="4673352" y="4514537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CDA748-B8C5-5CEB-B50B-2B357FBC8FB3}"/>
              </a:ext>
            </a:extLst>
          </p:cNvPr>
          <p:cNvSpPr txBox="1"/>
          <p:nvPr/>
        </p:nvSpPr>
        <p:spPr>
          <a:xfrm>
            <a:off x="4491104" y="4514537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7BB5F9-6FC5-2BCC-FB71-9AEE653E37F6}"/>
              </a:ext>
            </a:extLst>
          </p:cNvPr>
          <p:cNvSpPr txBox="1"/>
          <p:nvPr/>
        </p:nvSpPr>
        <p:spPr>
          <a:xfrm>
            <a:off x="7364700" y="2602465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5C4C74-5A98-2F3B-E11F-158DCDCB41BD}"/>
              </a:ext>
            </a:extLst>
          </p:cNvPr>
          <p:cNvSpPr txBox="1"/>
          <p:nvPr/>
        </p:nvSpPr>
        <p:spPr>
          <a:xfrm>
            <a:off x="7182452" y="2602465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39DBA6-B537-C38B-6363-870CD9C563CE}"/>
              </a:ext>
            </a:extLst>
          </p:cNvPr>
          <p:cNvSpPr txBox="1"/>
          <p:nvPr/>
        </p:nvSpPr>
        <p:spPr>
          <a:xfrm>
            <a:off x="7389539" y="4514537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383D9B-B7A5-5A61-2A99-59B51D2C6630}"/>
              </a:ext>
            </a:extLst>
          </p:cNvPr>
          <p:cNvSpPr txBox="1"/>
          <p:nvPr/>
        </p:nvSpPr>
        <p:spPr>
          <a:xfrm>
            <a:off x="7207291" y="4514537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C24DC9-B4F0-B260-AA2A-572CD66D5B98}"/>
              </a:ext>
            </a:extLst>
          </p:cNvPr>
          <p:cNvSpPr txBox="1"/>
          <p:nvPr/>
        </p:nvSpPr>
        <p:spPr>
          <a:xfrm>
            <a:off x="10137569" y="2298055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DC4CEC-BCEA-2AA9-F4A1-22BC890CD775}"/>
              </a:ext>
            </a:extLst>
          </p:cNvPr>
          <p:cNvSpPr txBox="1"/>
          <p:nvPr/>
        </p:nvSpPr>
        <p:spPr>
          <a:xfrm>
            <a:off x="9955321" y="2298055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8597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8F7E5-CF6E-3FE0-E8C2-F0CA55F3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E83F5F-9F5C-F7B2-2E30-277FDFC87A27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CF0C2-5376-0A11-E04A-4B1FF849915E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PRELIMINARY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F9F37-FAED-EE76-6213-0906B981B77E}"/>
              </a:ext>
            </a:extLst>
          </p:cNvPr>
          <p:cNvSpPr txBox="1"/>
          <p:nvPr/>
        </p:nvSpPr>
        <p:spPr>
          <a:xfrm>
            <a:off x="1093354" y="2359573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121B8-64D2-C4CD-FED5-8CB6AAE9F916}"/>
              </a:ext>
            </a:extLst>
          </p:cNvPr>
          <p:cNvSpPr txBox="1"/>
          <p:nvPr/>
        </p:nvSpPr>
        <p:spPr>
          <a:xfrm>
            <a:off x="6376555" y="2359573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34B2B-7824-BB01-1CD7-5B8E07D6E5C4}"/>
              </a:ext>
            </a:extLst>
          </p:cNvPr>
          <p:cNvSpPr txBox="1"/>
          <p:nvPr/>
        </p:nvSpPr>
        <p:spPr>
          <a:xfrm>
            <a:off x="1245176" y="3272418"/>
            <a:ext cx="4433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CNN + </a:t>
            </a:r>
            <a:r>
              <a:rPr lang="en-US" sz="22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BiLSTM</a:t>
            </a: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performed better than base CNN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F91EC-189A-6110-80B8-D3F7209B5C99}"/>
              </a:ext>
            </a:extLst>
          </p:cNvPr>
          <p:cNvSpPr txBox="1"/>
          <p:nvPr/>
        </p:nvSpPr>
        <p:spPr>
          <a:xfrm>
            <a:off x="1245176" y="4100085"/>
            <a:ext cx="45850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Achieved about 68% 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D80E9-E4D0-4FDE-26C1-CD7EFA354E65}"/>
              </a:ext>
            </a:extLst>
          </p:cNvPr>
          <p:cNvSpPr txBox="1"/>
          <p:nvPr/>
        </p:nvSpPr>
        <p:spPr>
          <a:xfrm>
            <a:off x="1245176" y="4589199"/>
            <a:ext cx="4433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Fear &amp; Sad emotions are frequently confused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73D9B9-E2A2-1C0A-23BC-1580F2EAB37A}"/>
              </a:ext>
            </a:extLst>
          </p:cNvPr>
          <p:cNvSpPr txBox="1"/>
          <p:nvPr/>
        </p:nvSpPr>
        <p:spPr>
          <a:xfrm>
            <a:off x="6665398" y="3441694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Face model accuracy: ~84%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DC3B69-40E0-EE2C-059A-977493525830}"/>
              </a:ext>
            </a:extLst>
          </p:cNvPr>
          <p:cNvSpPr txBox="1"/>
          <p:nvPr/>
        </p:nvSpPr>
        <p:spPr>
          <a:xfrm>
            <a:off x="6904775" y="2591310"/>
            <a:ext cx="38869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Face model &amp; Spoof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50163-4B01-7A32-B144-1A6C55134B3C}"/>
              </a:ext>
            </a:extLst>
          </p:cNvPr>
          <p:cNvSpPr txBox="1"/>
          <p:nvPr/>
        </p:nvSpPr>
        <p:spPr>
          <a:xfrm>
            <a:off x="6665398" y="4590708"/>
            <a:ext cx="4433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Fine-tuning models were better performing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7FCB15-14CF-4691-EF4D-BEE229AE936A}"/>
              </a:ext>
            </a:extLst>
          </p:cNvPr>
          <p:cNvSpPr txBox="1"/>
          <p:nvPr/>
        </p:nvSpPr>
        <p:spPr>
          <a:xfrm>
            <a:off x="2493721" y="2591310"/>
            <a:ext cx="19361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Voice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18930-994A-10B4-1A02-C5A15CEAD5D2}"/>
              </a:ext>
            </a:extLst>
          </p:cNvPr>
          <p:cNvSpPr txBox="1"/>
          <p:nvPr/>
        </p:nvSpPr>
        <p:spPr>
          <a:xfrm>
            <a:off x="6680200" y="4002292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Spoof model accuracy: ~89%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8EE167-738A-B7C1-C080-FFE196895045}"/>
              </a:ext>
            </a:extLst>
          </p:cNvPr>
          <p:cNvSpPr txBox="1"/>
          <p:nvPr/>
        </p:nvSpPr>
        <p:spPr>
          <a:xfrm>
            <a:off x="2794112" y="5904578"/>
            <a:ext cx="6603775" cy="64382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ABD34B-E279-7F39-D043-4677FEA683EF}"/>
              </a:ext>
            </a:extLst>
          </p:cNvPr>
          <p:cNvSpPr txBox="1"/>
          <p:nvPr/>
        </p:nvSpPr>
        <p:spPr>
          <a:xfrm>
            <a:off x="2894709" y="5987764"/>
            <a:ext cx="64185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Class imbalance affected prediction quality</a:t>
            </a:r>
          </a:p>
        </p:txBody>
      </p:sp>
    </p:spTree>
    <p:extLst>
      <p:ext uri="{BB962C8B-B14F-4D97-AF65-F5344CB8AC3E}">
        <p14:creationId xmlns:p14="http://schemas.microsoft.com/office/powerpoint/2010/main" val="4087821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C35D9-238A-56A0-F7EE-EC8AE402E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4E910F-22B7-149D-099F-4D83BB810380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A6586-6EA5-CACE-1285-C4325AD77A12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STATUS</a:t>
            </a:r>
          </a:p>
        </p:txBody>
      </p:sp>
      <p:sp>
        <p:nvSpPr>
          <p:cNvPr id="4" name="Rectangle: Top Corners One Rounded and One Snipped 3">
            <a:extLst>
              <a:ext uri="{FF2B5EF4-FFF2-40B4-BE49-F238E27FC236}">
                <a16:creationId xmlns:a16="http://schemas.microsoft.com/office/drawing/2014/main" id="{7767F9E4-63C4-6D77-9BF3-83E638F2329B}"/>
              </a:ext>
            </a:extLst>
          </p:cNvPr>
          <p:cNvSpPr/>
          <p:nvPr/>
        </p:nvSpPr>
        <p:spPr>
          <a:xfrm>
            <a:off x="419100" y="2376492"/>
            <a:ext cx="11353799" cy="4134376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9401D-809B-8E8A-961E-E95FEB8D108E}"/>
              </a:ext>
            </a:extLst>
          </p:cNvPr>
          <p:cNvSpPr txBox="1"/>
          <p:nvPr/>
        </p:nvSpPr>
        <p:spPr>
          <a:xfrm>
            <a:off x="1078553" y="3208880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88BF5-EE17-A667-2581-5317AC741523}"/>
              </a:ext>
            </a:extLst>
          </p:cNvPr>
          <p:cNvSpPr txBox="1"/>
          <p:nvPr/>
        </p:nvSpPr>
        <p:spPr>
          <a:xfrm>
            <a:off x="6376554" y="3214427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F26D5-A7A7-6E0B-7EC5-6274D6265984}"/>
              </a:ext>
            </a:extLst>
          </p:cNvPr>
          <p:cNvSpPr txBox="1"/>
          <p:nvPr/>
        </p:nvSpPr>
        <p:spPr>
          <a:xfrm>
            <a:off x="1230375" y="3656062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Architecture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EAEC2-712E-8EDE-F712-9F9619BCC824}"/>
              </a:ext>
            </a:extLst>
          </p:cNvPr>
          <p:cNvSpPr txBox="1"/>
          <p:nvPr/>
        </p:nvSpPr>
        <p:spPr>
          <a:xfrm>
            <a:off x="1230375" y="4219543"/>
            <a:ext cx="45850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Dataset preparation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08458-8122-D2A9-8474-53781BBCEB86}"/>
              </a:ext>
            </a:extLst>
          </p:cNvPr>
          <p:cNvSpPr txBox="1"/>
          <p:nvPr/>
        </p:nvSpPr>
        <p:spPr>
          <a:xfrm>
            <a:off x="1230375" y="4723770"/>
            <a:ext cx="4433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Baseline voice, face, spoof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5778E6-A87F-E9B4-4394-FA4226F4CB8F}"/>
              </a:ext>
            </a:extLst>
          </p:cNvPr>
          <p:cNvSpPr txBox="1"/>
          <p:nvPr/>
        </p:nvSpPr>
        <p:spPr>
          <a:xfrm>
            <a:off x="6528376" y="3683001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 optimization (voice)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BC1D4D-0FA0-56EC-A7D5-4C232F2B0C32}"/>
              </a:ext>
            </a:extLst>
          </p:cNvPr>
          <p:cNvSpPr txBox="1"/>
          <p:nvPr/>
        </p:nvSpPr>
        <p:spPr>
          <a:xfrm>
            <a:off x="6528376" y="4228013"/>
            <a:ext cx="4433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Model optimization (spoof &amp; face)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CA51AE-E565-1229-E458-CC1CD1313EB4}"/>
              </a:ext>
            </a:extLst>
          </p:cNvPr>
          <p:cNvSpPr/>
          <p:nvPr/>
        </p:nvSpPr>
        <p:spPr>
          <a:xfrm>
            <a:off x="2203985" y="2616206"/>
            <a:ext cx="2486028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24B8E9-5706-13AA-AE81-1AC1E3D6A51F}"/>
              </a:ext>
            </a:extLst>
          </p:cNvPr>
          <p:cNvSpPr/>
          <p:nvPr/>
        </p:nvSpPr>
        <p:spPr>
          <a:xfrm>
            <a:off x="7501986" y="2616206"/>
            <a:ext cx="2486028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In-progress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537929-83F8-6ABA-2E62-B4C78BE11B3A}"/>
              </a:ext>
            </a:extLst>
          </p:cNvPr>
          <p:cNvSpPr txBox="1"/>
          <p:nvPr/>
        </p:nvSpPr>
        <p:spPr>
          <a:xfrm>
            <a:off x="1230375" y="5458364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Initial experiments</a:t>
            </a:r>
          </a:p>
        </p:txBody>
      </p:sp>
    </p:spTree>
    <p:extLst>
      <p:ext uri="{BB962C8B-B14F-4D97-AF65-F5344CB8AC3E}">
        <p14:creationId xmlns:p14="http://schemas.microsoft.com/office/powerpoint/2010/main" val="1186543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9948D-B8E7-392F-5E95-A0D5CB867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9C1ED0-420E-3A63-304A-CEE4C212270B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88EE1-FE01-B7AF-93D9-43DDD59CBE27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</a:t>
            </a:r>
          </a:p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859B48-DC1D-D3AD-EDF5-8C8347959DB4}"/>
              </a:ext>
            </a:extLst>
          </p:cNvPr>
          <p:cNvSpPr txBox="1"/>
          <p:nvPr/>
        </p:nvSpPr>
        <p:spPr>
          <a:xfrm>
            <a:off x="2590800" y="2445796"/>
            <a:ext cx="7010400" cy="420793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4A0E66-6806-C5B5-81BE-C255EA04EE47}"/>
              </a:ext>
            </a:extLst>
          </p:cNvPr>
          <p:cNvSpPr txBox="1"/>
          <p:nvPr/>
        </p:nvSpPr>
        <p:spPr>
          <a:xfrm>
            <a:off x="2815491" y="2722177"/>
            <a:ext cx="6561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Implement fusion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E09BAD-07EC-B996-6E98-20C8CD90BD35}"/>
              </a:ext>
            </a:extLst>
          </p:cNvPr>
          <p:cNvSpPr txBox="1"/>
          <p:nvPr/>
        </p:nvSpPr>
        <p:spPr>
          <a:xfrm>
            <a:off x="2815490" y="3460358"/>
            <a:ext cx="67857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 distraction logic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9D9A70-E9C3-2EA0-3964-A70508856347}"/>
              </a:ext>
            </a:extLst>
          </p:cNvPr>
          <p:cNvSpPr txBox="1"/>
          <p:nvPr/>
        </p:nvSpPr>
        <p:spPr>
          <a:xfrm>
            <a:off x="2815491" y="4271793"/>
            <a:ext cx="6561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Build UI Dashboard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BCE15-186C-4671-8226-903266EC8B82}"/>
              </a:ext>
            </a:extLst>
          </p:cNvPr>
          <p:cNvSpPr txBox="1"/>
          <p:nvPr/>
        </p:nvSpPr>
        <p:spPr>
          <a:xfrm>
            <a:off x="2815489" y="5083228"/>
            <a:ext cx="6561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Real-time testing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606E89-00DB-7A2D-8ECB-C79CAFB6F54A}"/>
              </a:ext>
            </a:extLst>
          </p:cNvPr>
          <p:cNvSpPr txBox="1"/>
          <p:nvPr/>
        </p:nvSpPr>
        <p:spPr>
          <a:xfrm>
            <a:off x="2815489" y="5868478"/>
            <a:ext cx="6561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Evaluate final project design</a:t>
            </a:r>
          </a:p>
        </p:txBody>
      </p:sp>
    </p:spTree>
    <p:extLst>
      <p:ext uri="{BB962C8B-B14F-4D97-AF65-F5344CB8AC3E}">
        <p14:creationId xmlns:p14="http://schemas.microsoft.com/office/powerpoint/2010/main" val="3617749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33FDE-882D-499C-2437-A03DD27B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45AAC8-5218-5F38-3D79-57FF4D63873A}"/>
              </a:ext>
            </a:extLst>
          </p:cNvPr>
          <p:cNvSpPr/>
          <p:nvPr/>
        </p:nvSpPr>
        <p:spPr>
          <a:xfrm>
            <a:off x="1261533" y="2294467"/>
            <a:ext cx="9668933" cy="2192866"/>
          </a:xfrm>
          <a:prstGeom prst="roundRect">
            <a:avLst/>
          </a:prstGeom>
          <a:gradFill>
            <a:gsLst>
              <a:gs pos="44000">
                <a:schemeClr val="accent6">
                  <a:lumMod val="40000"/>
                  <a:lumOff val="60000"/>
                </a:schemeClr>
              </a:gs>
              <a:gs pos="100000">
                <a:srgbClr val="B3E5A6"/>
              </a:gs>
              <a:gs pos="0">
                <a:schemeClr val="accent4">
                  <a:lumMod val="40000"/>
                  <a:lumOff val="60000"/>
                </a:schemeClr>
              </a:gs>
            </a:gsLst>
            <a:lin ang="5400000" scaled="1"/>
          </a:gra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C6AAA-F8EF-5CE2-30D8-9AFFB4E31887}"/>
              </a:ext>
            </a:extLst>
          </p:cNvPr>
          <p:cNvSpPr txBox="1"/>
          <p:nvPr/>
        </p:nvSpPr>
        <p:spPr>
          <a:xfrm>
            <a:off x="3289569" y="2828835"/>
            <a:ext cx="56128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64697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860</Words>
  <Application>Microsoft Office PowerPoint</Application>
  <PresentationFormat>Widescreen</PresentationFormat>
  <Paragraphs>302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ADLaM Display</vt:lpstr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Datha Sai</dc:creator>
  <cp:lastModifiedBy>Datha Sai</cp:lastModifiedBy>
  <cp:revision>10</cp:revision>
  <dcterms:created xsi:type="dcterms:W3CDTF">2026-05-11T07:20:10Z</dcterms:created>
  <dcterms:modified xsi:type="dcterms:W3CDTF">2026-05-11T15:11:05Z</dcterms:modified>
</cp:coreProperties>
</file>