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0" r:id="rId4"/>
    <p:sldId id="261" r:id="rId5"/>
    <p:sldId id="263" r:id="rId6"/>
    <p:sldId id="266" r:id="rId7"/>
    <p:sldId id="264" r:id="rId8"/>
    <p:sldId id="267" r:id="rId9"/>
    <p:sldId id="265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62" r:id="rId23"/>
    <p:sldId id="280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0AD99-CC99-40D7-8A1D-2CA0682F70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6EAA12-5528-9BFA-87C2-E65F178A60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10867-70B6-F7A8-5F30-612F94BC6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97329-6C25-4A8E-8D75-66357F8A3A72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69D2CA-1D3E-1FCB-9B84-92B2767D4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CC3505-A843-24C7-BA3D-AC38D3DF5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59400-5572-4117-90DF-D31AF4987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4624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79268-DF01-D5CC-F652-AE5796B3D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E288C8-2155-4537-EFA5-793A4D7042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9C1D85-A671-9C0A-6CBC-C3EA534D5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97329-6C25-4A8E-8D75-66357F8A3A72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8BBF3E-E099-297F-FB4C-7485C2E7A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FDA76F-70C6-5342-8335-96BABF8C8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59400-5572-4117-90DF-D31AF4987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038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F720C-9570-020E-0973-291DC6717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9600C1-3BF0-DBC3-AC73-EF6970029C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DE5CD9-1919-C172-044C-C461DD5C0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97329-6C25-4A8E-8D75-66357F8A3A72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7140F-C270-79B0-80C3-142F446CC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659258-E80F-AFA4-E171-84F813686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59400-5572-4117-90DF-D31AF4987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874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82780-8C9D-4838-525F-3119EE94E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DC29AC-572C-D630-F3F3-16BF27D5C5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4B1D05-3FCF-D955-FCEA-30432EDF4C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05F76F-F13C-3087-6CA4-E367C61B3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97329-6C25-4A8E-8D75-66357F8A3A72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04094F-8645-923F-2E20-87556EE03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856448-716E-A652-9A0F-B096F88B9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59400-5572-4117-90DF-D31AF4987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1557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A9F16-C90F-39D0-6275-BD8EE68BD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E081DE-4084-95C4-064C-644777256F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973D8B-C948-7FFE-DEFD-94B78F0686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06752B-D3C3-B577-EAAC-CE21B16279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834E54-E74D-10BE-2756-61612D4184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557C8D-E457-5A11-9317-B39C14BCB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97329-6C25-4A8E-8D75-66357F8A3A72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6C7F14-BE38-52A3-4E7E-3EA7E5DC1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45FE20-9CA7-392A-32DB-F66B6C7DF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59400-5572-4117-90DF-D31AF4987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281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203B9-3162-9AB7-0919-6DB758BEA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D75829-487B-443D-501A-F5D085A80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97329-6C25-4A8E-8D75-66357F8A3A72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E72B63-73F5-7E1F-072D-B169B8AE4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22F7EF-6C63-5750-C45A-B725CD231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59400-5572-4117-90DF-D31AF4987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341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81467A-E839-987D-76D3-FD75D8C7A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97329-6C25-4A8E-8D75-66357F8A3A72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2FAD5B-F72F-FB3F-A105-2D2AECDD4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F12934-CDD7-BCCD-49CE-08B513544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59400-5572-4117-90DF-D31AF4987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918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D964F-4700-E261-CA63-F29EB4A42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7CB86B-E545-E5AB-5A0A-2BA1B93533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C1893D-AD91-D6D5-7290-945328C2B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CE7B4C-A4AD-BD56-BC9F-016364955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97329-6C25-4A8E-8D75-66357F8A3A72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2E54CF-3DB4-E8E0-B438-11B0810F6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A2AEBF-BB4A-7E19-CE1E-883FDB51B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59400-5572-4117-90DF-D31AF4987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902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7E477-5E78-391E-BF11-48675F212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069617-13CF-0E02-7882-DB8BAAF6C2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A7EC4A-F7EA-658B-A8B7-F62DCB0219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B3CDDC-51FA-44FD-092F-17F0C9C66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97329-6C25-4A8E-8D75-66357F8A3A72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2DC416-4DDC-E332-EE24-518C771D6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7C48F4-8483-8E67-C5F9-ACF16BB4D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59400-5572-4117-90DF-D31AF4987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175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8CE3F-7B2B-64E3-7AB0-40B561D80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F3FFA5-88CA-D64D-6445-D3C25E137C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1F75BB-AF8F-B47F-6757-033C5C044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97329-6C25-4A8E-8D75-66357F8A3A72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8DDA42-A032-D9EF-5077-97A0814D0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410D86-31EA-AAE1-EDC6-F1DC1F169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59400-5572-4117-90DF-D31AF4987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08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29D374-31EA-63B1-B4F9-F13464FFB2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C024CC-D544-B8E4-A906-4F5F67C0C9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4A23F7-06FF-024F-7EB0-60DF59E02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97329-6C25-4A8E-8D75-66357F8A3A72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110ACF-AC76-FB76-771B-C02C7132C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5C9CB6-AF16-B090-9447-B44EFDD0F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59400-5572-4117-90DF-D31AF4987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892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CB9B01-C475-26BC-8DF2-4146D9535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2E40BC-CE50-682C-B7BE-6382FA6936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6345E0-4645-0627-1E17-8670EAE6E8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697329-6C25-4A8E-8D75-66357F8A3A72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B5E6E8-FFDD-27A6-22D2-D61A9BB53C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F8A35A-BB44-D027-CFD2-B00C605F3A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059400-5572-4117-90DF-D31AF4987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146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3.jpg"/><Relationship Id="rId7" Type="http://schemas.openxmlformats.org/officeDocument/2006/relationships/image" Target="../media/image7.png"/><Relationship Id="rId12" Type="http://schemas.openxmlformats.org/officeDocument/2006/relationships/image" Target="../media/image12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jp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jp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2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jpe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20000"/>
                <a:lumOff val="80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Oval 29">
            <a:extLst>
              <a:ext uri="{FF2B5EF4-FFF2-40B4-BE49-F238E27FC236}">
                <a16:creationId xmlns:a16="http://schemas.microsoft.com/office/drawing/2014/main" id="{7E8F7613-6C1B-75F2-167D-B1D5E4403F1A}"/>
              </a:ext>
            </a:extLst>
          </p:cNvPr>
          <p:cNvSpPr/>
          <p:nvPr/>
        </p:nvSpPr>
        <p:spPr>
          <a:xfrm>
            <a:off x="1397847" y="1195042"/>
            <a:ext cx="9396306" cy="4467916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76200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12700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BC2A8E-18D4-3AFC-9960-B9DE9AD5C2C4}"/>
              </a:ext>
            </a:extLst>
          </p:cNvPr>
          <p:cNvSpPr txBox="1"/>
          <p:nvPr/>
        </p:nvSpPr>
        <p:spPr>
          <a:xfrm>
            <a:off x="2527928" y="2459504"/>
            <a:ext cx="8266225" cy="193899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MULIT-MODAL EMOTION AND DISTRACTION DETECTION SYSTEM (MEDDS)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768BF9-67FE-0495-326F-F5B0EAECD9BE}"/>
              </a:ext>
            </a:extLst>
          </p:cNvPr>
          <p:cNvSpPr txBox="1"/>
          <p:nvPr/>
        </p:nvSpPr>
        <p:spPr>
          <a:xfrm>
            <a:off x="10386906" y="-15270"/>
            <a:ext cx="19828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Team:</a:t>
            </a:r>
          </a:p>
          <a:p>
            <a:r>
              <a:rPr lang="en-US" sz="2400" b="1" dirty="0"/>
              <a:t>N Datha Sai</a:t>
            </a:r>
          </a:p>
          <a:p>
            <a:r>
              <a:rPr lang="en-US" sz="2400" b="1" dirty="0"/>
              <a:t>V Reshmi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EA2DB1-A374-E16F-B9E0-67E186F67C4D}"/>
              </a:ext>
            </a:extLst>
          </p:cNvPr>
          <p:cNvSpPr txBox="1"/>
          <p:nvPr/>
        </p:nvSpPr>
        <p:spPr>
          <a:xfrm>
            <a:off x="8178801" y="6199262"/>
            <a:ext cx="381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Advisor: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Prof. Hilal Tayara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5157410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20000"/>
                <a:lumOff val="80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EEC9A1-D668-FEFD-123D-EE715F61A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02E4CAE-C638-B75A-81D3-7EC4A9906F7D}"/>
              </a:ext>
            </a:extLst>
          </p:cNvPr>
          <p:cNvSpPr/>
          <p:nvPr/>
        </p:nvSpPr>
        <p:spPr>
          <a:xfrm>
            <a:off x="3843867" y="450462"/>
            <a:ext cx="4504267" cy="1323439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75855B-09FC-6930-1762-BCBBA12F8D9B}"/>
              </a:ext>
            </a:extLst>
          </p:cNvPr>
          <p:cNvSpPr txBox="1"/>
          <p:nvPr/>
        </p:nvSpPr>
        <p:spPr>
          <a:xfrm>
            <a:off x="4620682" y="448732"/>
            <a:ext cx="295063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PROBLEM STATEMENT</a:t>
            </a:r>
          </a:p>
        </p:txBody>
      </p:sp>
      <p:sp>
        <p:nvSpPr>
          <p:cNvPr id="10" name="Rectangle: Top Corners One Rounded and One Snipped 9">
            <a:extLst>
              <a:ext uri="{FF2B5EF4-FFF2-40B4-BE49-F238E27FC236}">
                <a16:creationId xmlns:a16="http://schemas.microsoft.com/office/drawing/2014/main" id="{8C968017-8F91-1DE2-770B-520C06CA8337}"/>
              </a:ext>
            </a:extLst>
          </p:cNvPr>
          <p:cNvSpPr/>
          <p:nvPr/>
        </p:nvSpPr>
        <p:spPr>
          <a:xfrm>
            <a:off x="419099" y="2273162"/>
            <a:ext cx="11353799" cy="4134376"/>
          </a:xfrm>
          <a:prstGeom prst="snip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 prst="relaxedIns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58268B-6D87-6C9B-9580-81CB9BFAFD0E}"/>
              </a:ext>
            </a:extLst>
          </p:cNvPr>
          <p:cNvSpPr txBox="1"/>
          <p:nvPr/>
        </p:nvSpPr>
        <p:spPr>
          <a:xfrm>
            <a:off x="1093354" y="2943773"/>
            <a:ext cx="4736893" cy="31255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innerShdw blurRad="114300">
              <a:prstClr val="black"/>
            </a:innerShdw>
          </a:effectLst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63F46E7-5E46-878C-D5DC-B741D58E0D05}"/>
              </a:ext>
            </a:extLst>
          </p:cNvPr>
          <p:cNvSpPr txBox="1"/>
          <p:nvPr/>
        </p:nvSpPr>
        <p:spPr>
          <a:xfrm>
            <a:off x="6376555" y="2943773"/>
            <a:ext cx="4736893" cy="31255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innerShdw blurRad="114300">
              <a:prstClr val="black"/>
            </a:innerShdw>
          </a:effectLst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F7194E4-FCE0-C336-7036-4099604A3723}"/>
              </a:ext>
            </a:extLst>
          </p:cNvPr>
          <p:cNvSpPr txBox="1"/>
          <p:nvPr/>
        </p:nvSpPr>
        <p:spPr>
          <a:xfrm>
            <a:off x="1245176" y="3390955"/>
            <a:ext cx="44332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Growth of digital learning in modern era.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E76BD15-F0ED-9713-A9F7-61642431E55A}"/>
              </a:ext>
            </a:extLst>
          </p:cNvPr>
          <p:cNvSpPr txBox="1"/>
          <p:nvPr/>
        </p:nvSpPr>
        <p:spPr>
          <a:xfrm>
            <a:off x="1245176" y="4269024"/>
            <a:ext cx="458507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Limited accuracy of single-modality systems.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9A6A576-07AA-9EBD-03CB-040D949F7AD2}"/>
              </a:ext>
            </a:extLst>
          </p:cNvPr>
          <p:cNvSpPr txBox="1"/>
          <p:nvPr/>
        </p:nvSpPr>
        <p:spPr>
          <a:xfrm>
            <a:off x="1283856" y="5147091"/>
            <a:ext cx="44332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Lack of spoof &amp; distraction detection.</a:t>
            </a:r>
          </a:p>
        </p:txBody>
      </p:sp>
      <p:pic>
        <p:nvPicPr>
          <p:cNvPr id="1026" name="Picture 2" descr="Person sitting in front of computer Vector Images &amp; Graphics for Commercial  Use | VectorStock">
            <a:extLst>
              <a:ext uri="{FF2B5EF4-FFF2-40B4-BE49-F238E27FC236}">
                <a16:creationId xmlns:a16="http://schemas.microsoft.com/office/drawing/2014/main" id="{3B433899-7D14-B7E1-3264-F91E9A6B7B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/>
        </p:blipFill>
        <p:spPr bwMode="auto">
          <a:xfrm>
            <a:off x="7145867" y="3095772"/>
            <a:ext cx="3304769" cy="2791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46459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20000"/>
                <a:lumOff val="80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6AF2CE-51B3-9990-F6F4-4817169CE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923597F-3F27-8C55-F280-10B1CCBAE12D}"/>
              </a:ext>
            </a:extLst>
          </p:cNvPr>
          <p:cNvSpPr/>
          <p:nvPr/>
        </p:nvSpPr>
        <p:spPr>
          <a:xfrm>
            <a:off x="3843867" y="450462"/>
            <a:ext cx="4504267" cy="1323439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AF8956-0654-622B-70D6-F1C170B35D5B}"/>
              </a:ext>
            </a:extLst>
          </p:cNvPr>
          <p:cNvSpPr txBox="1"/>
          <p:nvPr/>
        </p:nvSpPr>
        <p:spPr>
          <a:xfrm>
            <a:off x="4620680" y="758238"/>
            <a:ext cx="29506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OBJECTIVE</a:t>
            </a:r>
          </a:p>
        </p:txBody>
      </p:sp>
      <p:sp>
        <p:nvSpPr>
          <p:cNvPr id="10" name="Rectangle: Top Corners One Rounded and One Snipped 9">
            <a:extLst>
              <a:ext uri="{FF2B5EF4-FFF2-40B4-BE49-F238E27FC236}">
                <a16:creationId xmlns:a16="http://schemas.microsoft.com/office/drawing/2014/main" id="{9AE36C47-2687-542C-EA3B-A8A607F8B55F}"/>
              </a:ext>
            </a:extLst>
          </p:cNvPr>
          <p:cNvSpPr/>
          <p:nvPr/>
        </p:nvSpPr>
        <p:spPr>
          <a:xfrm>
            <a:off x="419099" y="2273162"/>
            <a:ext cx="11353799" cy="4134376"/>
          </a:xfrm>
          <a:prstGeom prst="snip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 prst="relaxedIns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8F0B33-E86A-ADE8-1DAF-ACD364E321C7}"/>
              </a:ext>
            </a:extLst>
          </p:cNvPr>
          <p:cNvSpPr txBox="1"/>
          <p:nvPr/>
        </p:nvSpPr>
        <p:spPr>
          <a:xfrm>
            <a:off x="1093354" y="2943773"/>
            <a:ext cx="7161646" cy="31255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innerShdw blurRad="114300">
              <a:prstClr val="black"/>
            </a:innerShdw>
          </a:effectLst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ADC261A-11E1-1604-CADE-C99CE9FE3D2E}"/>
              </a:ext>
            </a:extLst>
          </p:cNvPr>
          <p:cNvSpPr txBox="1"/>
          <p:nvPr/>
        </p:nvSpPr>
        <p:spPr>
          <a:xfrm>
            <a:off x="8627533" y="2943773"/>
            <a:ext cx="2485915" cy="31255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innerShdw blurRad="114300">
              <a:prstClr val="black"/>
            </a:innerShdw>
          </a:effectLst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F95ED1-12DC-5DE6-0A51-42E858DE7896}"/>
              </a:ext>
            </a:extLst>
          </p:cNvPr>
          <p:cNvSpPr txBox="1"/>
          <p:nvPr/>
        </p:nvSpPr>
        <p:spPr>
          <a:xfrm>
            <a:off x="1245176" y="3322581"/>
            <a:ext cx="672290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Take multiple types of inputs (face and voice).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DE8BCCD-F807-2F8D-9481-4AB90BAA6A8A}"/>
              </a:ext>
            </a:extLst>
          </p:cNvPr>
          <p:cNvSpPr txBox="1"/>
          <p:nvPr/>
        </p:nvSpPr>
        <p:spPr>
          <a:xfrm>
            <a:off x="1245176" y="3828175"/>
            <a:ext cx="458507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Detect emotional state.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7137006-FB5E-883A-F1FE-AFB83716DB03}"/>
              </a:ext>
            </a:extLst>
          </p:cNvPr>
          <p:cNvSpPr txBox="1"/>
          <p:nvPr/>
        </p:nvSpPr>
        <p:spPr>
          <a:xfrm>
            <a:off x="1245175" y="4842368"/>
            <a:ext cx="443324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Identify spoofing.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5E3783-1770-9E23-DD5E-A4B8665BD603}"/>
              </a:ext>
            </a:extLst>
          </p:cNvPr>
          <p:cNvSpPr txBox="1"/>
          <p:nvPr/>
        </p:nvSpPr>
        <p:spPr>
          <a:xfrm>
            <a:off x="8974665" y="3225497"/>
            <a:ext cx="21387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</a:t>
            </a:r>
            <a:r>
              <a:rPr lang="en-US" b="1" dirty="0"/>
              <a:t>ULTI-MODAL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99EAB8-1C42-3373-94C5-3DF4D502C2F2}"/>
              </a:ext>
            </a:extLst>
          </p:cNvPr>
          <p:cNvSpPr txBox="1"/>
          <p:nvPr/>
        </p:nvSpPr>
        <p:spPr>
          <a:xfrm>
            <a:off x="8974664" y="3662435"/>
            <a:ext cx="19896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</a:t>
            </a:r>
            <a:r>
              <a:rPr lang="en-US" b="1" dirty="0"/>
              <a:t>MOTION   &amp;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500C3E-6536-D354-1DE6-02A96B0CF74F}"/>
              </a:ext>
            </a:extLst>
          </p:cNvPr>
          <p:cNvSpPr txBox="1"/>
          <p:nvPr/>
        </p:nvSpPr>
        <p:spPr>
          <a:xfrm>
            <a:off x="8974664" y="4113810"/>
            <a:ext cx="19896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</a:t>
            </a:r>
            <a:r>
              <a:rPr lang="en-US" b="1" dirty="0"/>
              <a:t>ISTRACTION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0BEABE-74C6-6B18-2BE2-CACCBB2D8772}"/>
              </a:ext>
            </a:extLst>
          </p:cNvPr>
          <p:cNvSpPr txBox="1"/>
          <p:nvPr/>
        </p:nvSpPr>
        <p:spPr>
          <a:xfrm>
            <a:off x="8974663" y="4550748"/>
            <a:ext cx="19896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</a:t>
            </a:r>
            <a:r>
              <a:rPr lang="en-US" b="1" dirty="0"/>
              <a:t>ETECTION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80B4BF7-3816-3E3E-FD3B-CC0071CB1F4A}"/>
              </a:ext>
            </a:extLst>
          </p:cNvPr>
          <p:cNvSpPr txBox="1"/>
          <p:nvPr/>
        </p:nvSpPr>
        <p:spPr>
          <a:xfrm>
            <a:off x="8974663" y="4987686"/>
            <a:ext cx="19896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  <a:r>
              <a:rPr lang="en-US" b="1" dirty="0"/>
              <a:t>YSTEM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20D3C70-AE0D-3B6B-CB5A-8A5F127E5C0F}"/>
              </a:ext>
            </a:extLst>
          </p:cNvPr>
          <p:cNvSpPr txBox="1"/>
          <p:nvPr/>
        </p:nvSpPr>
        <p:spPr>
          <a:xfrm>
            <a:off x="1245175" y="4333769"/>
            <a:ext cx="458507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Detect distraction level.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D62F324-7AF0-55DD-CF24-B266ED5277CC}"/>
              </a:ext>
            </a:extLst>
          </p:cNvPr>
          <p:cNvSpPr txBox="1"/>
          <p:nvPr/>
        </p:nvSpPr>
        <p:spPr>
          <a:xfrm>
            <a:off x="1245175" y="5341629"/>
            <a:ext cx="50455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Real-time monitoring through UI.</a:t>
            </a:r>
          </a:p>
        </p:txBody>
      </p:sp>
    </p:spTree>
    <p:extLst>
      <p:ext uri="{BB962C8B-B14F-4D97-AF65-F5344CB8AC3E}">
        <p14:creationId xmlns:p14="http://schemas.microsoft.com/office/powerpoint/2010/main" val="864117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20000"/>
                <a:lumOff val="80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211F3A-1E77-A4E2-513F-91BFEAA14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D36AD34-4CE6-5762-03BF-799A0605B36E}"/>
              </a:ext>
            </a:extLst>
          </p:cNvPr>
          <p:cNvSpPr/>
          <p:nvPr/>
        </p:nvSpPr>
        <p:spPr>
          <a:xfrm>
            <a:off x="3843867" y="450462"/>
            <a:ext cx="4504267" cy="1323439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E980FB-9917-55A2-D0DF-59BF68EEDFF3}"/>
              </a:ext>
            </a:extLst>
          </p:cNvPr>
          <p:cNvSpPr txBox="1"/>
          <p:nvPr/>
        </p:nvSpPr>
        <p:spPr>
          <a:xfrm>
            <a:off x="4185704" y="758238"/>
            <a:ext cx="38205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DATASETS</a:t>
            </a:r>
          </a:p>
        </p:txBody>
      </p:sp>
      <p:sp>
        <p:nvSpPr>
          <p:cNvPr id="10" name="Rectangle: Top Corners One Rounded and One Snipped 9">
            <a:extLst>
              <a:ext uri="{FF2B5EF4-FFF2-40B4-BE49-F238E27FC236}">
                <a16:creationId xmlns:a16="http://schemas.microsoft.com/office/drawing/2014/main" id="{AD833817-BC3C-DC1E-AA1D-603D3B463DF9}"/>
              </a:ext>
            </a:extLst>
          </p:cNvPr>
          <p:cNvSpPr/>
          <p:nvPr/>
        </p:nvSpPr>
        <p:spPr>
          <a:xfrm>
            <a:off x="419099" y="2273162"/>
            <a:ext cx="11353799" cy="4134376"/>
          </a:xfrm>
          <a:prstGeom prst="snip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 prst="relaxedIns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6E4E73-8FA2-26DF-9EBC-CAEBCF0E7C38}"/>
              </a:ext>
            </a:extLst>
          </p:cNvPr>
          <p:cNvSpPr txBox="1"/>
          <p:nvPr/>
        </p:nvSpPr>
        <p:spPr>
          <a:xfrm>
            <a:off x="847821" y="2974254"/>
            <a:ext cx="3300846" cy="31255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innerShdw blurRad="114300">
              <a:prstClr val="black"/>
            </a:innerShdw>
          </a:effectLst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A11B4CF-A808-C46C-11EC-16B6AB756A43}"/>
              </a:ext>
            </a:extLst>
          </p:cNvPr>
          <p:cNvSpPr txBox="1"/>
          <p:nvPr/>
        </p:nvSpPr>
        <p:spPr>
          <a:xfrm>
            <a:off x="995698" y="5114729"/>
            <a:ext cx="30050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Face samples.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Total: 63,568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2D2924-9214-EE05-F12D-7EDC59B5660C}"/>
              </a:ext>
            </a:extLst>
          </p:cNvPr>
          <p:cNvSpPr txBox="1"/>
          <p:nvPr/>
        </p:nvSpPr>
        <p:spPr>
          <a:xfrm>
            <a:off x="8072003" y="2974254"/>
            <a:ext cx="3300846" cy="31255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innerShdw blurRad="114300">
              <a:prstClr val="black"/>
            </a:innerShdw>
          </a:effectLst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200F84-CA7E-B6DE-8897-4B0EFA80648F}"/>
              </a:ext>
            </a:extLst>
          </p:cNvPr>
          <p:cNvSpPr txBox="1"/>
          <p:nvPr/>
        </p:nvSpPr>
        <p:spPr>
          <a:xfrm>
            <a:off x="4459912" y="2974254"/>
            <a:ext cx="3300846" cy="31255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innerShdw blurRad="114300">
              <a:prstClr val="black"/>
            </a:innerShdw>
          </a:effectLst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765E54-BE42-5E69-D284-748C43D5F908}"/>
              </a:ext>
            </a:extLst>
          </p:cNvPr>
          <p:cNvSpPr txBox="1"/>
          <p:nvPr/>
        </p:nvSpPr>
        <p:spPr>
          <a:xfrm>
            <a:off x="4607789" y="5114729"/>
            <a:ext cx="30050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Voice samples.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Total: 11,490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94AD9DE-4002-17EF-955C-BE4CEDA5B0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712" y="3151122"/>
            <a:ext cx="914400" cy="9144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74AE9F25-5D97-C7CB-4683-78261EE3D2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8000" y="3142655"/>
            <a:ext cx="914400" cy="9144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5FFD5D4-01BD-8D76-FB1E-B0D77AA936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5288" y="3142655"/>
            <a:ext cx="914400" cy="91440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33F57E49-6903-131B-DD8F-F897C49A9C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712" y="4099116"/>
            <a:ext cx="914400" cy="91440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4773896F-EC25-CB92-5055-7EF5F6D6868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7999" y="4099115"/>
            <a:ext cx="914399" cy="914399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52323A7E-3F94-669C-7AF7-3BB530640E5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8858" y="4099115"/>
            <a:ext cx="926964" cy="92696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158B9B3E-E988-725D-0A1C-F7AD3952F9B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8377" y="5068139"/>
            <a:ext cx="876352" cy="876352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35C7EE7A-49DD-B6EA-D89E-41CA073F0E0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80165" y="3289698"/>
            <a:ext cx="1415835" cy="1471259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AB3C080E-C1C3-5F98-D38F-91FF21041F4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36966" y="3289697"/>
            <a:ext cx="1415836" cy="1471259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FB0F7C0A-77DD-F3D5-B432-7BE729C956D9}"/>
              </a:ext>
            </a:extLst>
          </p:cNvPr>
          <p:cNvSpPr txBox="1"/>
          <p:nvPr/>
        </p:nvSpPr>
        <p:spPr>
          <a:xfrm>
            <a:off x="8196275" y="5114729"/>
            <a:ext cx="30050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Spoof samples.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Total: 11,377</a:t>
            </a: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8E5C983D-1934-5090-0CF1-17CFB5CB541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8321312" y="3289697"/>
            <a:ext cx="1401114" cy="1401114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494BCC2C-FDED-8E98-2530-6C1910BED2C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9775205" y="3289697"/>
            <a:ext cx="1401114" cy="1401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5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20000"/>
                <a:lumOff val="80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5A3ED1-35CB-0A92-E455-B42455BC2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5" name="TextBox 3084">
            <a:extLst>
              <a:ext uri="{FF2B5EF4-FFF2-40B4-BE49-F238E27FC236}">
                <a16:creationId xmlns:a16="http://schemas.microsoft.com/office/drawing/2014/main" id="{3AAE7DBD-DB3E-5C64-52E8-3FE736F2B2B0}"/>
              </a:ext>
            </a:extLst>
          </p:cNvPr>
          <p:cNvSpPr txBox="1"/>
          <p:nvPr/>
        </p:nvSpPr>
        <p:spPr>
          <a:xfrm>
            <a:off x="8208690" y="2064744"/>
            <a:ext cx="3077377" cy="4194621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innerShdw blurRad="114300">
              <a:prstClr val="black"/>
            </a:innerShdw>
          </a:effectLst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0" name="Rectangle: Top Corners One Rounded and One Snipped 9">
            <a:extLst>
              <a:ext uri="{FF2B5EF4-FFF2-40B4-BE49-F238E27FC236}">
                <a16:creationId xmlns:a16="http://schemas.microsoft.com/office/drawing/2014/main" id="{C97AB185-C23B-312A-42B3-AD360194A705}"/>
              </a:ext>
            </a:extLst>
          </p:cNvPr>
          <p:cNvSpPr/>
          <p:nvPr/>
        </p:nvSpPr>
        <p:spPr>
          <a:xfrm>
            <a:off x="1172634" y="2356383"/>
            <a:ext cx="1062566" cy="935705"/>
          </a:xfrm>
          <a:prstGeom prst="snip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 prst="relaxedIns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Top Corners One Rounded and One Snipped 19">
            <a:extLst>
              <a:ext uri="{FF2B5EF4-FFF2-40B4-BE49-F238E27FC236}">
                <a16:creationId xmlns:a16="http://schemas.microsoft.com/office/drawing/2014/main" id="{52EE4345-1BB3-0735-5461-CAEFE9F5D115}"/>
              </a:ext>
            </a:extLst>
          </p:cNvPr>
          <p:cNvSpPr/>
          <p:nvPr/>
        </p:nvSpPr>
        <p:spPr>
          <a:xfrm>
            <a:off x="1172634" y="4677297"/>
            <a:ext cx="1062566" cy="935705"/>
          </a:xfrm>
          <a:prstGeom prst="snip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 prst="relaxedIns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4,900+ Video Camera Cartoon Stock Photos, Pictures &amp; Royalty-Free Images -  iStock">
            <a:extLst>
              <a:ext uri="{FF2B5EF4-FFF2-40B4-BE49-F238E27FC236}">
                <a16:creationId xmlns:a16="http://schemas.microsoft.com/office/drawing/2014/main" id="{711C171B-6C74-8409-4B46-C4FE053679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/>
        </p:blipFill>
        <p:spPr bwMode="auto">
          <a:xfrm>
            <a:off x="1006467" y="2126785"/>
            <a:ext cx="1394900" cy="1394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3d Cartoon Microphone Clip Art Illustration Podcast Recording Studio, Art  Clipart, Microphone Clipart, Cartoon Clipart PNG Transparent Image and  Clipart for Free Download">
            <a:extLst>
              <a:ext uri="{FF2B5EF4-FFF2-40B4-BE49-F238E27FC236}">
                <a16:creationId xmlns:a16="http://schemas.microsoft.com/office/drawing/2014/main" id="{D4BC4768-69FA-E0DB-4CFC-051CF1EF66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064" y="4677297"/>
            <a:ext cx="935705" cy="935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Arrow: Right 20">
            <a:extLst>
              <a:ext uri="{FF2B5EF4-FFF2-40B4-BE49-F238E27FC236}">
                <a16:creationId xmlns:a16="http://schemas.microsoft.com/office/drawing/2014/main" id="{9577F2DE-8CB2-F3B2-A481-7FD643BCA30A}"/>
              </a:ext>
            </a:extLst>
          </p:cNvPr>
          <p:cNvSpPr/>
          <p:nvPr/>
        </p:nvSpPr>
        <p:spPr>
          <a:xfrm>
            <a:off x="2401367" y="2756501"/>
            <a:ext cx="790567" cy="394865"/>
          </a:xfrm>
          <a:prstGeom prst="rightArrow">
            <a:avLst/>
          </a:prstGeom>
          <a:solidFill>
            <a:schemeClr val="bg1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50DDC3DE-3788-82AD-06F7-53EAEDBAA2E0}"/>
              </a:ext>
            </a:extLst>
          </p:cNvPr>
          <p:cNvSpPr/>
          <p:nvPr/>
        </p:nvSpPr>
        <p:spPr>
          <a:xfrm>
            <a:off x="2401367" y="4973714"/>
            <a:ext cx="790567" cy="394865"/>
          </a:xfrm>
          <a:prstGeom prst="rightArrow">
            <a:avLst/>
          </a:prstGeom>
          <a:solidFill>
            <a:schemeClr val="bg1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8" name="Picture 6" descr="Image File Icon for Easy File Management">
            <a:extLst>
              <a:ext uri="{FF2B5EF4-FFF2-40B4-BE49-F238E27FC236}">
                <a16:creationId xmlns:a16="http://schemas.microsoft.com/office/drawing/2014/main" id="{F1F311AA-7287-F787-1F0A-E02A11409D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2004" y="2356383"/>
            <a:ext cx="914759" cy="914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Rectangle: Top Corners One Rounded and One Snipped 28">
            <a:extLst>
              <a:ext uri="{FF2B5EF4-FFF2-40B4-BE49-F238E27FC236}">
                <a16:creationId xmlns:a16="http://schemas.microsoft.com/office/drawing/2014/main" id="{0B93C86B-D53F-AEA5-4462-EA9ADAB82BFC}"/>
              </a:ext>
            </a:extLst>
          </p:cNvPr>
          <p:cNvSpPr/>
          <p:nvPr/>
        </p:nvSpPr>
        <p:spPr>
          <a:xfrm>
            <a:off x="3358101" y="2356383"/>
            <a:ext cx="1062566" cy="935705"/>
          </a:xfrm>
          <a:prstGeom prst="snip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 prst="relaxedIns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80" name="Picture 8" descr="Audio file - Free files and folders icons">
            <a:extLst>
              <a:ext uri="{FF2B5EF4-FFF2-40B4-BE49-F238E27FC236}">
                <a16:creationId xmlns:a16="http://schemas.microsoft.com/office/drawing/2014/main" id="{9F9183EF-2E94-8918-E2C7-E4B5F7522A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4662" y="4760427"/>
            <a:ext cx="769442" cy="769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Rectangle: Top Corners One Rounded and One Snipped 32">
            <a:extLst>
              <a:ext uri="{FF2B5EF4-FFF2-40B4-BE49-F238E27FC236}">
                <a16:creationId xmlns:a16="http://schemas.microsoft.com/office/drawing/2014/main" id="{2FB2301C-2278-49AF-51AE-68B8A6B2E289}"/>
              </a:ext>
            </a:extLst>
          </p:cNvPr>
          <p:cNvSpPr/>
          <p:nvPr/>
        </p:nvSpPr>
        <p:spPr>
          <a:xfrm>
            <a:off x="3358100" y="4677296"/>
            <a:ext cx="1062566" cy="935705"/>
          </a:xfrm>
          <a:prstGeom prst="snip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 prst="relaxedIns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22ED02F6-794B-613E-7D08-7FC6A11A4874}"/>
              </a:ext>
            </a:extLst>
          </p:cNvPr>
          <p:cNvSpPr/>
          <p:nvPr/>
        </p:nvSpPr>
        <p:spPr>
          <a:xfrm>
            <a:off x="4586832" y="4973714"/>
            <a:ext cx="790567" cy="394865"/>
          </a:xfrm>
          <a:prstGeom prst="rightArrow">
            <a:avLst/>
          </a:prstGeom>
          <a:solidFill>
            <a:schemeClr val="bg1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: Top Corners One Rounded and One Snipped 40">
            <a:extLst>
              <a:ext uri="{FF2B5EF4-FFF2-40B4-BE49-F238E27FC236}">
                <a16:creationId xmlns:a16="http://schemas.microsoft.com/office/drawing/2014/main" id="{D097A786-0288-1AB2-F8FB-AF8C3B665CEB}"/>
              </a:ext>
            </a:extLst>
          </p:cNvPr>
          <p:cNvSpPr/>
          <p:nvPr/>
        </p:nvSpPr>
        <p:spPr>
          <a:xfrm>
            <a:off x="5543564" y="4677296"/>
            <a:ext cx="1484311" cy="1234388"/>
          </a:xfrm>
          <a:prstGeom prst="snip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 prst="relaxedIns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82" name="Picture 10" descr="What Emotions Actually Are (And Why Your Brain Creates Them)">
            <a:extLst>
              <a:ext uri="{FF2B5EF4-FFF2-40B4-BE49-F238E27FC236}">
                <a16:creationId xmlns:a16="http://schemas.microsoft.com/office/drawing/2014/main" id="{BFEFC540-5519-75F7-5C14-3CF37874DF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/>
          <a:srcRect/>
          <a:stretch/>
        </p:blipFill>
        <p:spPr bwMode="auto">
          <a:xfrm>
            <a:off x="5188484" y="4553951"/>
            <a:ext cx="2194470" cy="1234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Arrow: Right 43">
            <a:extLst>
              <a:ext uri="{FF2B5EF4-FFF2-40B4-BE49-F238E27FC236}">
                <a16:creationId xmlns:a16="http://schemas.microsoft.com/office/drawing/2014/main" id="{201A6EAA-7722-B360-E5F6-55EA5D36476A}"/>
              </a:ext>
            </a:extLst>
          </p:cNvPr>
          <p:cNvSpPr/>
          <p:nvPr/>
        </p:nvSpPr>
        <p:spPr>
          <a:xfrm>
            <a:off x="4586832" y="2756500"/>
            <a:ext cx="790567" cy="394865"/>
          </a:xfrm>
          <a:prstGeom prst="rightArrow">
            <a:avLst/>
          </a:prstGeom>
          <a:solidFill>
            <a:schemeClr val="bg1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84" name="Picture 12" descr="Fake Real Being Doubt Suspicious Critical Stock Illustration 743523952 |  Shutterstock">
            <a:extLst>
              <a:ext uri="{FF2B5EF4-FFF2-40B4-BE49-F238E27FC236}">
                <a16:creationId xmlns:a16="http://schemas.microsoft.com/office/drawing/2014/main" id="{36B397F2-EFE5-56A0-BCB6-A25B0BC126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216"/>
          <a:stretch>
            <a:fillRect/>
          </a:stretch>
        </p:blipFill>
        <p:spPr bwMode="auto">
          <a:xfrm>
            <a:off x="5620355" y="2433864"/>
            <a:ext cx="1330725" cy="1048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" name="Rectangle: Top Corners One Rounded and One Snipped 47">
            <a:extLst>
              <a:ext uri="{FF2B5EF4-FFF2-40B4-BE49-F238E27FC236}">
                <a16:creationId xmlns:a16="http://schemas.microsoft.com/office/drawing/2014/main" id="{31C6DA0F-69AD-6CCE-E977-D3FEA7DB9248}"/>
              </a:ext>
            </a:extLst>
          </p:cNvPr>
          <p:cNvSpPr/>
          <p:nvPr/>
        </p:nvSpPr>
        <p:spPr>
          <a:xfrm>
            <a:off x="5543563" y="2356383"/>
            <a:ext cx="1484311" cy="1234388"/>
          </a:xfrm>
          <a:prstGeom prst="snip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 prst="relaxedIns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: Top Corners One Rounded and One Snipped 62">
            <a:extLst>
              <a:ext uri="{FF2B5EF4-FFF2-40B4-BE49-F238E27FC236}">
                <a16:creationId xmlns:a16="http://schemas.microsoft.com/office/drawing/2014/main" id="{CB901F72-BA8F-C28F-19A4-DA1EE83D840C}"/>
              </a:ext>
            </a:extLst>
          </p:cNvPr>
          <p:cNvSpPr/>
          <p:nvPr/>
        </p:nvSpPr>
        <p:spPr>
          <a:xfrm>
            <a:off x="8477197" y="4677297"/>
            <a:ext cx="2532555" cy="1234388"/>
          </a:xfrm>
          <a:prstGeom prst="snip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 prst="relaxedIns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77" name="Rectangle: Top Corners One Rounded and One Snipped 3076">
            <a:extLst>
              <a:ext uri="{FF2B5EF4-FFF2-40B4-BE49-F238E27FC236}">
                <a16:creationId xmlns:a16="http://schemas.microsoft.com/office/drawing/2014/main" id="{55DF8F75-4EC8-4F86-FAE2-A0A04CBC7C88}"/>
              </a:ext>
            </a:extLst>
          </p:cNvPr>
          <p:cNvSpPr/>
          <p:nvPr/>
        </p:nvSpPr>
        <p:spPr>
          <a:xfrm>
            <a:off x="8477197" y="2378559"/>
            <a:ext cx="2532555" cy="1234388"/>
          </a:xfrm>
          <a:prstGeom prst="snip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 prst="relaxedIns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1" name="Arrow: Right 3080">
            <a:extLst>
              <a:ext uri="{FF2B5EF4-FFF2-40B4-BE49-F238E27FC236}">
                <a16:creationId xmlns:a16="http://schemas.microsoft.com/office/drawing/2014/main" id="{BDDA70AF-3FE6-B537-D579-2C8E4C44D4C3}"/>
              </a:ext>
            </a:extLst>
          </p:cNvPr>
          <p:cNvSpPr/>
          <p:nvPr/>
        </p:nvSpPr>
        <p:spPr>
          <a:xfrm>
            <a:off x="7165206" y="2756500"/>
            <a:ext cx="790567" cy="394865"/>
          </a:xfrm>
          <a:prstGeom prst="rightArrow">
            <a:avLst/>
          </a:prstGeom>
          <a:solidFill>
            <a:schemeClr val="bg1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7" name="TextBox 3086">
            <a:extLst>
              <a:ext uri="{FF2B5EF4-FFF2-40B4-BE49-F238E27FC236}">
                <a16:creationId xmlns:a16="http://schemas.microsoft.com/office/drawing/2014/main" id="{9C915DA6-2403-086A-2B18-C6DFC8EB3707}"/>
              </a:ext>
            </a:extLst>
          </p:cNvPr>
          <p:cNvSpPr txBox="1"/>
          <p:nvPr/>
        </p:nvSpPr>
        <p:spPr>
          <a:xfrm>
            <a:off x="8733691" y="4938940"/>
            <a:ext cx="201956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Final emotion</a:t>
            </a:r>
          </a:p>
        </p:txBody>
      </p:sp>
      <p:sp>
        <p:nvSpPr>
          <p:cNvPr id="3089" name="TextBox 3088">
            <a:extLst>
              <a:ext uri="{FF2B5EF4-FFF2-40B4-BE49-F238E27FC236}">
                <a16:creationId xmlns:a16="http://schemas.microsoft.com/office/drawing/2014/main" id="{A0483777-9082-9753-5AC1-5BFA40F81A36}"/>
              </a:ext>
            </a:extLst>
          </p:cNvPr>
          <p:cNvSpPr txBox="1"/>
          <p:nvPr/>
        </p:nvSpPr>
        <p:spPr>
          <a:xfrm>
            <a:off x="8733691" y="2640236"/>
            <a:ext cx="201956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Distraction level</a:t>
            </a:r>
          </a:p>
        </p:txBody>
      </p:sp>
      <p:sp>
        <p:nvSpPr>
          <p:cNvPr id="3091" name="TextBox 3090">
            <a:extLst>
              <a:ext uri="{FF2B5EF4-FFF2-40B4-BE49-F238E27FC236}">
                <a16:creationId xmlns:a16="http://schemas.microsoft.com/office/drawing/2014/main" id="{11F87C40-FEAE-D199-618F-33534D8A06C8}"/>
              </a:ext>
            </a:extLst>
          </p:cNvPr>
          <p:cNvSpPr txBox="1"/>
          <p:nvPr/>
        </p:nvSpPr>
        <p:spPr>
          <a:xfrm>
            <a:off x="8733691" y="3962006"/>
            <a:ext cx="20195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UI</a:t>
            </a:r>
          </a:p>
        </p:txBody>
      </p:sp>
      <p:sp>
        <p:nvSpPr>
          <p:cNvPr id="3092" name="TextBox 3091">
            <a:extLst>
              <a:ext uri="{FF2B5EF4-FFF2-40B4-BE49-F238E27FC236}">
                <a16:creationId xmlns:a16="http://schemas.microsoft.com/office/drawing/2014/main" id="{00FAC37E-6B2C-55F7-EEF8-A395488C8679}"/>
              </a:ext>
            </a:extLst>
          </p:cNvPr>
          <p:cNvSpPr txBox="1"/>
          <p:nvPr/>
        </p:nvSpPr>
        <p:spPr>
          <a:xfrm>
            <a:off x="4473337" y="4714441"/>
            <a:ext cx="8776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CNN  + LSTM</a:t>
            </a:r>
          </a:p>
        </p:txBody>
      </p:sp>
      <p:sp>
        <p:nvSpPr>
          <p:cNvPr id="3094" name="TextBox 3093">
            <a:extLst>
              <a:ext uri="{FF2B5EF4-FFF2-40B4-BE49-F238E27FC236}">
                <a16:creationId xmlns:a16="http://schemas.microsoft.com/office/drawing/2014/main" id="{AB2D5415-718C-B54A-DCD8-0A6A96943C55}"/>
              </a:ext>
            </a:extLst>
          </p:cNvPr>
          <p:cNvSpPr txBox="1"/>
          <p:nvPr/>
        </p:nvSpPr>
        <p:spPr>
          <a:xfrm>
            <a:off x="4449500" y="2507732"/>
            <a:ext cx="877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CNN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FCDB09E0-9C72-CB36-CAF1-5EFA594DE605}"/>
              </a:ext>
            </a:extLst>
          </p:cNvPr>
          <p:cNvSpPr/>
          <p:nvPr/>
        </p:nvSpPr>
        <p:spPr>
          <a:xfrm>
            <a:off x="7157093" y="5145148"/>
            <a:ext cx="790567" cy="394865"/>
          </a:xfrm>
          <a:prstGeom prst="rightArrow">
            <a:avLst/>
          </a:prstGeom>
          <a:solidFill>
            <a:schemeClr val="bg1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4DE4A69-5456-89FD-E3ED-A899FF7DED4B}"/>
              </a:ext>
            </a:extLst>
          </p:cNvPr>
          <p:cNvSpPr/>
          <p:nvPr/>
        </p:nvSpPr>
        <p:spPr>
          <a:xfrm>
            <a:off x="3843867" y="450462"/>
            <a:ext cx="4504267" cy="1323439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6AD2EF-03DD-2E16-4CD3-93054F8ECF8E}"/>
              </a:ext>
            </a:extLst>
          </p:cNvPr>
          <p:cNvSpPr txBox="1"/>
          <p:nvPr/>
        </p:nvSpPr>
        <p:spPr>
          <a:xfrm>
            <a:off x="4167742" y="440081"/>
            <a:ext cx="385651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ARCHITECTURE version 1</a:t>
            </a:r>
          </a:p>
        </p:txBody>
      </p:sp>
    </p:spTree>
    <p:extLst>
      <p:ext uri="{BB962C8B-B14F-4D97-AF65-F5344CB8AC3E}">
        <p14:creationId xmlns:p14="http://schemas.microsoft.com/office/powerpoint/2010/main" val="4812912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20000"/>
                <a:lumOff val="80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89F82E-C742-83DA-67C6-081402CDF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83AC65E-FEF2-36D5-8249-4ACBDB8173BC}"/>
              </a:ext>
            </a:extLst>
          </p:cNvPr>
          <p:cNvSpPr/>
          <p:nvPr/>
        </p:nvSpPr>
        <p:spPr>
          <a:xfrm>
            <a:off x="3843867" y="450462"/>
            <a:ext cx="4504267" cy="1323439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453D74-ACBF-1591-5F91-C3BBF2CB1977}"/>
              </a:ext>
            </a:extLst>
          </p:cNvPr>
          <p:cNvSpPr txBox="1"/>
          <p:nvPr/>
        </p:nvSpPr>
        <p:spPr>
          <a:xfrm>
            <a:off x="4520138" y="758238"/>
            <a:ext cx="31517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EVALUATION</a:t>
            </a:r>
          </a:p>
        </p:txBody>
      </p:sp>
      <p:sp>
        <p:nvSpPr>
          <p:cNvPr id="10" name="Rectangle: Top Corners One Rounded and One Snipped 9">
            <a:extLst>
              <a:ext uri="{FF2B5EF4-FFF2-40B4-BE49-F238E27FC236}">
                <a16:creationId xmlns:a16="http://schemas.microsoft.com/office/drawing/2014/main" id="{38BDB14E-9C47-4E5E-0E87-9F5CA48B8D8D}"/>
              </a:ext>
            </a:extLst>
          </p:cNvPr>
          <p:cNvSpPr/>
          <p:nvPr/>
        </p:nvSpPr>
        <p:spPr>
          <a:xfrm>
            <a:off x="419099" y="2273162"/>
            <a:ext cx="11353799" cy="4134376"/>
          </a:xfrm>
          <a:prstGeom prst="snip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 prst="relaxedIns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800CCD2-4339-A268-6915-66DB333328AD}"/>
              </a:ext>
            </a:extLst>
          </p:cNvPr>
          <p:cNvSpPr txBox="1"/>
          <p:nvPr/>
        </p:nvSpPr>
        <p:spPr>
          <a:xfrm>
            <a:off x="1078551" y="2943773"/>
            <a:ext cx="10004315" cy="31255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innerShdw blurRad="114300">
              <a:prstClr val="black"/>
            </a:innerShdw>
          </a:effectLst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BCE5414-CC6F-DFC6-D322-3454E18F227E}"/>
              </a:ext>
            </a:extLst>
          </p:cNvPr>
          <p:cNvSpPr txBox="1"/>
          <p:nvPr/>
        </p:nvSpPr>
        <p:spPr>
          <a:xfrm>
            <a:off x="1245176" y="3322581"/>
            <a:ext cx="672290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Face and voice are processed independently.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DA58900-B3C4-1E90-E896-9402C37A88FF}"/>
              </a:ext>
            </a:extLst>
          </p:cNvPr>
          <p:cNvSpPr txBox="1"/>
          <p:nvPr/>
        </p:nvSpPr>
        <p:spPr>
          <a:xfrm>
            <a:off x="1245175" y="3939434"/>
            <a:ext cx="458507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No multi-modal fusion.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C455B6E-93DF-6B2A-C485-D4DDA72AEA69}"/>
              </a:ext>
            </a:extLst>
          </p:cNvPr>
          <p:cNvSpPr txBox="1"/>
          <p:nvPr/>
        </p:nvSpPr>
        <p:spPr>
          <a:xfrm>
            <a:off x="1245175" y="5173652"/>
            <a:ext cx="443324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No spoof identification.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7B02E55-D20A-49BB-2E0A-727E3EFD20F8}"/>
              </a:ext>
            </a:extLst>
          </p:cNvPr>
          <p:cNvSpPr txBox="1"/>
          <p:nvPr/>
        </p:nvSpPr>
        <p:spPr>
          <a:xfrm>
            <a:off x="1245175" y="4556799"/>
            <a:ext cx="50455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Emotion is heavily relied on voice.</a:t>
            </a:r>
          </a:p>
        </p:txBody>
      </p:sp>
    </p:spTree>
    <p:extLst>
      <p:ext uri="{BB962C8B-B14F-4D97-AF65-F5344CB8AC3E}">
        <p14:creationId xmlns:p14="http://schemas.microsoft.com/office/powerpoint/2010/main" val="28826376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20000"/>
                <a:lumOff val="80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AEB729-D6E5-BA35-0ED8-EB0963994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5" name="TextBox 3084">
            <a:extLst>
              <a:ext uri="{FF2B5EF4-FFF2-40B4-BE49-F238E27FC236}">
                <a16:creationId xmlns:a16="http://schemas.microsoft.com/office/drawing/2014/main" id="{7AC77736-4008-A003-B99A-B9D483B8772A}"/>
              </a:ext>
            </a:extLst>
          </p:cNvPr>
          <p:cNvSpPr txBox="1"/>
          <p:nvPr/>
        </p:nvSpPr>
        <p:spPr>
          <a:xfrm>
            <a:off x="8208690" y="2064744"/>
            <a:ext cx="3077377" cy="4194621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innerShdw blurRad="114300">
              <a:prstClr val="black"/>
            </a:innerShdw>
          </a:effectLst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0" name="Rectangle: Top Corners One Rounded and One Snipped 9">
            <a:extLst>
              <a:ext uri="{FF2B5EF4-FFF2-40B4-BE49-F238E27FC236}">
                <a16:creationId xmlns:a16="http://schemas.microsoft.com/office/drawing/2014/main" id="{83E5BA16-347A-F26F-8BD3-FFAA845B6C4F}"/>
              </a:ext>
            </a:extLst>
          </p:cNvPr>
          <p:cNvSpPr/>
          <p:nvPr/>
        </p:nvSpPr>
        <p:spPr>
          <a:xfrm>
            <a:off x="1172634" y="2356383"/>
            <a:ext cx="1062566" cy="935705"/>
          </a:xfrm>
          <a:prstGeom prst="snip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 prst="relaxedIns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Top Corners One Rounded and One Snipped 19">
            <a:extLst>
              <a:ext uri="{FF2B5EF4-FFF2-40B4-BE49-F238E27FC236}">
                <a16:creationId xmlns:a16="http://schemas.microsoft.com/office/drawing/2014/main" id="{3046460E-6347-9F97-6C03-4F01685A17EE}"/>
              </a:ext>
            </a:extLst>
          </p:cNvPr>
          <p:cNvSpPr/>
          <p:nvPr/>
        </p:nvSpPr>
        <p:spPr>
          <a:xfrm>
            <a:off x="1172632" y="5323662"/>
            <a:ext cx="1062566" cy="935705"/>
          </a:xfrm>
          <a:prstGeom prst="snip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 prst="relaxedIns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4,900+ Video Camera Cartoon Stock Photos, Pictures &amp; Royalty-Free Images -  iStock">
            <a:extLst>
              <a:ext uri="{FF2B5EF4-FFF2-40B4-BE49-F238E27FC236}">
                <a16:creationId xmlns:a16="http://schemas.microsoft.com/office/drawing/2014/main" id="{5ED1F287-A25C-1952-99C7-11DF330A2E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/>
        </p:blipFill>
        <p:spPr bwMode="auto">
          <a:xfrm>
            <a:off x="1006467" y="2126785"/>
            <a:ext cx="1394900" cy="1394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3d Cartoon Microphone Clip Art Illustration Podcast Recording Studio, Art  Clipart, Microphone Clipart, Cartoon Clipart PNG Transparent Image and  Clipart for Free Download">
            <a:extLst>
              <a:ext uri="{FF2B5EF4-FFF2-40B4-BE49-F238E27FC236}">
                <a16:creationId xmlns:a16="http://schemas.microsoft.com/office/drawing/2014/main" id="{DE792FCB-B51D-7633-94DF-78C525950E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062" y="5323662"/>
            <a:ext cx="935705" cy="935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Arrow: Right 20">
            <a:extLst>
              <a:ext uri="{FF2B5EF4-FFF2-40B4-BE49-F238E27FC236}">
                <a16:creationId xmlns:a16="http://schemas.microsoft.com/office/drawing/2014/main" id="{E5AE3436-791B-E039-CEFC-E495E06119FC}"/>
              </a:ext>
            </a:extLst>
          </p:cNvPr>
          <p:cNvSpPr/>
          <p:nvPr/>
        </p:nvSpPr>
        <p:spPr>
          <a:xfrm>
            <a:off x="2401367" y="2756501"/>
            <a:ext cx="790567" cy="394865"/>
          </a:xfrm>
          <a:prstGeom prst="rightArrow">
            <a:avLst/>
          </a:prstGeom>
          <a:solidFill>
            <a:schemeClr val="bg1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FF6EF5B1-6131-E146-12F3-EE74626545CB}"/>
              </a:ext>
            </a:extLst>
          </p:cNvPr>
          <p:cNvSpPr/>
          <p:nvPr/>
        </p:nvSpPr>
        <p:spPr>
          <a:xfrm>
            <a:off x="2401365" y="5620079"/>
            <a:ext cx="790567" cy="394865"/>
          </a:xfrm>
          <a:prstGeom prst="rightArrow">
            <a:avLst/>
          </a:prstGeom>
          <a:solidFill>
            <a:schemeClr val="bg1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8" name="Picture 6" descr="Image File Icon for Easy File Management">
            <a:extLst>
              <a:ext uri="{FF2B5EF4-FFF2-40B4-BE49-F238E27FC236}">
                <a16:creationId xmlns:a16="http://schemas.microsoft.com/office/drawing/2014/main" id="{705BE776-059C-EEE7-0ABC-BC8BCA480B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2004" y="2356383"/>
            <a:ext cx="914759" cy="914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Rectangle: Top Corners One Rounded and One Snipped 28">
            <a:extLst>
              <a:ext uri="{FF2B5EF4-FFF2-40B4-BE49-F238E27FC236}">
                <a16:creationId xmlns:a16="http://schemas.microsoft.com/office/drawing/2014/main" id="{491D7B3D-6B8C-B8AB-9D0B-5C9B0F467D36}"/>
              </a:ext>
            </a:extLst>
          </p:cNvPr>
          <p:cNvSpPr/>
          <p:nvPr/>
        </p:nvSpPr>
        <p:spPr>
          <a:xfrm>
            <a:off x="3358101" y="2356383"/>
            <a:ext cx="1062566" cy="935705"/>
          </a:xfrm>
          <a:prstGeom prst="snip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 prst="relaxedIns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80" name="Picture 8" descr="Audio file - Free files and folders icons">
            <a:extLst>
              <a:ext uri="{FF2B5EF4-FFF2-40B4-BE49-F238E27FC236}">
                <a16:creationId xmlns:a16="http://schemas.microsoft.com/office/drawing/2014/main" id="{F27C8C55-B6A6-1060-9236-729C97C160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4660" y="5406792"/>
            <a:ext cx="769442" cy="769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Rectangle: Top Corners One Rounded and One Snipped 32">
            <a:extLst>
              <a:ext uri="{FF2B5EF4-FFF2-40B4-BE49-F238E27FC236}">
                <a16:creationId xmlns:a16="http://schemas.microsoft.com/office/drawing/2014/main" id="{FD105D46-53F3-5F2A-D615-EC52FB7BE9DE}"/>
              </a:ext>
            </a:extLst>
          </p:cNvPr>
          <p:cNvSpPr/>
          <p:nvPr/>
        </p:nvSpPr>
        <p:spPr>
          <a:xfrm>
            <a:off x="3358098" y="5323661"/>
            <a:ext cx="1062566" cy="935705"/>
          </a:xfrm>
          <a:prstGeom prst="snip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 prst="relaxedIns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E0D5CFF6-DE73-A4D7-3F12-DFBFDE7A220F}"/>
              </a:ext>
            </a:extLst>
          </p:cNvPr>
          <p:cNvSpPr/>
          <p:nvPr/>
        </p:nvSpPr>
        <p:spPr>
          <a:xfrm>
            <a:off x="4586830" y="5620079"/>
            <a:ext cx="790567" cy="394865"/>
          </a:xfrm>
          <a:prstGeom prst="rightArrow">
            <a:avLst/>
          </a:prstGeom>
          <a:solidFill>
            <a:schemeClr val="bg1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: Top Corners One Rounded and One Snipped 40">
            <a:extLst>
              <a:ext uri="{FF2B5EF4-FFF2-40B4-BE49-F238E27FC236}">
                <a16:creationId xmlns:a16="http://schemas.microsoft.com/office/drawing/2014/main" id="{AD3F3914-EEEC-F1C9-2856-9A5E5C81F437}"/>
              </a:ext>
            </a:extLst>
          </p:cNvPr>
          <p:cNvSpPr/>
          <p:nvPr/>
        </p:nvSpPr>
        <p:spPr>
          <a:xfrm>
            <a:off x="5543562" y="5323661"/>
            <a:ext cx="1484311" cy="1234388"/>
          </a:xfrm>
          <a:prstGeom prst="snip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 prst="relaxedIns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82" name="Picture 10" descr="What Emotions Actually Are (And Why Your Brain Creates Them)">
            <a:extLst>
              <a:ext uri="{FF2B5EF4-FFF2-40B4-BE49-F238E27FC236}">
                <a16:creationId xmlns:a16="http://schemas.microsoft.com/office/drawing/2014/main" id="{EB710921-23C0-5CA8-6A42-EC4DB49902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/>
          <a:srcRect/>
          <a:stretch/>
        </p:blipFill>
        <p:spPr bwMode="auto">
          <a:xfrm>
            <a:off x="5188482" y="5200316"/>
            <a:ext cx="2194470" cy="1234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Arrow: Right 43">
            <a:extLst>
              <a:ext uri="{FF2B5EF4-FFF2-40B4-BE49-F238E27FC236}">
                <a16:creationId xmlns:a16="http://schemas.microsoft.com/office/drawing/2014/main" id="{7361A138-D3F1-AEC4-F824-455BD32996CE}"/>
              </a:ext>
            </a:extLst>
          </p:cNvPr>
          <p:cNvSpPr/>
          <p:nvPr/>
        </p:nvSpPr>
        <p:spPr>
          <a:xfrm>
            <a:off x="4586832" y="2756500"/>
            <a:ext cx="790567" cy="394865"/>
          </a:xfrm>
          <a:prstGeom prst="rightArrow">
            <a:avLst/>
          </a:prstGeom>
          <a:solidFill>
            <a:schemeClr val="bg1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84" name="Picture 12" descr="Fake Real Being Doubt Suspicious Critical Stock Illustration 743523952 |  Shutterstock">
            <a:extLst>
              <a:ext uri="{FF2B5EF4-FFF2-40B4-BE49-F238E27FC236}">
                <a16:creationId xmlns:a16="http://schemas.microsoft.com/office/drawing/2014/main" id="{10210CE2-9CC7-9A57-6929-60861764E8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216"/>
          <a:stretch>
            <a:fillRect/>
          </a:stretch>
        </p:blipFill>
        <p:spPr bwMode="auto">
          <a:xfrm>
            <a:off x="5620355" y="2433864"/>
            <a:ext cx="1330725" cy="1048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" name="Rectangle: Top Corners One Rounded and One Snipped 47">
            <a:extLst>
              <a:ext uri="{FF2B5EF4-FFF2-40B4-BE49-F238E27FC236}">
                <a16:creationId xmlns:a16="http://schemas.microsoft.com/office/drawing/2014/main" id="{B3B43661-CA58-48EF-DC5E-A426FD55A07E}"/>
              </a:ext>
            </a:extLst>
          </p:cNvPr>
          <p:cNvSpPr/>
          <p:nvPr/>
        </p:nvSpPr>
        <p:spPr>
          <a:xfrm>
            <a:off x="5543563" y="2356383"/>
            <a:ext cx="1484311" cy="1234388"/>
          </a:xfrm>
          <a:prstGeom prst="snip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 prst="relaxedIns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Arrow: Right 50">
            <a:extLst>
              <a:ext uri="{FF2B5EF4-FFF2-40B4-BE49-F238E27FC236}">
                <a16:creationId xmlns:a16="http://schemas.microsoft.com/office/drawing/2014/main" id="{AFDABE02-1E5D-5867-6560-79241B18295A}"/>
              </a:ext>
            </a:extLst>
          </p:cNvPr>
          <p:cNvSpPr/>
          <p:nvPr/>
        </p:nvSpPr>
        <p:spPr>
          <a:xfrm rot="1704408">
            <a:off x="4623584" y="3402865"/>
            <a:ext cx="790567" cy="394865"/>
          </a:xfrm>
          <a:prstGeom prst="rightArrow">
            <a:avLst/>
          </a:prstGeom>
          <a:solidFill>
            <a:schemeClr val="bg1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: Top Corners One Rounded and One Snipped 54">
            <a:extLst>
              <a:ext uri="{FF2B5EF4-FFF2-40B4-BE49-F238E27FC236}">
                <a16:creationId xmlns:a16="http://schemas.microsoft.com/office/drawing/2014/main" id="{62098747-4140-BBC2-DA2A-F2972DEB4105}"/>
              </a:ext>
            </a:extLst>
          </p:cNvPr>
          <p:cNvSpPr/>
          <p:nvPr/>
        </p:nvSpPr>
        <p:spPr>
          <a:xfrm>
            <a:off x="5543562" y="3612947"/>
            <a:ext cx="1484311" cy="1234388"/>
          </a:xfrm>
          <a:prstGeom prst="snip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 prst="relaxedIns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7" name="Picture 10" descr="What Emotions Actually Are (And Why Your Brain Creates Them)">
            <a:extLst>
              <a:ext uri="{FF2B5EF4-FFF2-40B4-BE49-F238E27FC236}">
                <a16:creationId xmlns:a16="http://schemas.microsoft.com/office/drawing/2014/main" id="{87E552EC-5BB6-39A7-AD73-FB95D0BA08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/>
          <a:srcRect/>
          <a:stretch/>
        </p:blipFill>
        <p:spPr bwMode="auto">
          <a:xfrm>
            <a:off x="5188482" y="3489602"/>
            <a:ext cx="2194470" cy="1234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9" name="Arrow: Right 58">
            <a:extLst>
              <a:ext uri="{FF2B5EF4-FFF2-40B4-BE49-F238E27FC236}">
                <a16:creationId xmlns:a16="http://schemas.microsoft.com/office/drawing/2014/main" id="{9B4CEB73-4F66-348B-8D59-FF6A7BF609D2}"/>
              </a:ext>
            </a:extLst>
          </p:cNvPr>
          <p:cNvSpPr/>
          <p:nvPr/>
        </p:nvSpPr>
        <p:spPr>
          <a:xfrm rot="1802974">
            <a:off x="7166022" y="4311603"/>
            <a:ext cx="790567" cy="394865"/>
          </a:xfrm>
          <a:prstGeom prst="rightArrow">
            <a:avLst/>
          </a:prstGeom>
          <a:solidFill>
            <a:schemeClr val="bg1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Arrow: Right 60">
            <a:extLst>
              <a:ext uri="{FF2B5EF4-FFF2-40B4-BE49-F238E27FC236}">
                <a16:creationId xmlns:a16="http://schemas.microsoft.com/office/drawing/2014/main" id="{2AA1F909-AD90-517C-DC21-94C13CE1ED0C}"/>
              </a:ext>
            </a:extLst>
          </p:cNvPr>
          <p:cNvSpPr/>
          <p:nvPr/>
        </p:nvSpPr>
        <p:spPr>
          <a:xfrm rot="19980316">
            <a:off x="7147488" y="5545991"/>
            <a:ext cx="790567" cy="394865"/>
          </a:xfrm>
          <a:prstGeom prst="rightArrow">
            <a:avLst/>
          </a:prstGeom>
          <a:solidFill>
            <a:schemeClr val="bg1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: Top Corners One Rounded and One Snipped 62">
            <a:extLst>
              <a:ext uri="{FF2B5EF4-FFF2-40B4-BE49-F238E27FC236}">
                <a16:creationId xmlns:a16="http://schemas.microsoft.com/office/drawing/2014/main" id="{CAD139A6-5E57-2794-0B66-766920A7DB8D}"/>
              </a:ext>
            </a:extLst>
          </p:cNvPr>
          <p:cNvSpPr/>
          <p:nvPr/>
        </p:nvSpPr>
        <p:spPr>
          <a:xfrm>
            <a:off x="8477197" y="4677297"/>
            <a:ext cx="2532555" cy="1234388"/>
          </a:xfrm>
          <a:prstGeom prst="snip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 prst="relaxedIns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77" name="Rectangle: Top Corners One Rounded and One Snipped 3076">
            <a:extLst>
              <a:ext uri="{FF2B5EF4-FFF2-40B4-BE49-F238E27FC236}">
                <a16:creationId xmlns:a16="http://schemas.microsoft.com/office/drawing/2014/main" id="{6E322A7E-F78D-636D-04F6-855B4397D07B}"/>
              </a:ext>
            </a:extLst>
          </p:cNvPr>
          <p:cNvSpPr/>
          <p:nvPr/>
        </p:nvSpPr>
        <p:spPr>
          <a:xfrm>
            <a:off x="8477197" y="2378559"/>
            <a:ext cx="2532555" cy="1234388"/>
          </a:xfrm>
          <a:prstGeom prst="snip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 prst="relaxedIns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1" name="Arrow: Right 3080">
            <a:extLst>
              <a:ext uri="{FF2B5EF4-FFF2-40B4-BE49-F238E27FC236}">
                <a16:creationId xmlns:a16="http://schemas.microsoft.com/office/drawing/2014/main" id="{CE2F8E3F-3AFE-E931-6BA6-A2F2F20593CE}"/>
              </a:ext>
            </a:extLst>
          </p:cNvPr>
          <p:cNvSpPr/>
          <p:nvPr/>
        </p:nvSpPr>
        <p:spPr>
          <a:xfrm>
            <a:off x="7165206" y="2756500"/>
            <a:ext cx="790567" cy="394865"/>
          </a:xfrm>
          <a:prstGeom prst="rightArrow">
            <a:avLst/>
          </a:prstGeom>
          <a:solidFill>
            <a:schemeClr val="bg1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7" name="TextBox 3086">
            <a:extLst>
              <a:ext uri="{FF2B5EF4-FFF2-40B4-BE49-F238E27FC236}">
                <a16:creationId xmlns:a16="http://schemas.microsoft.com/office/drawing/2014/main" id="{AFBE4597-20E4-2F9C-CE7A-6F05E16C0C0B}"/>
              </a:ext>
            </a:extLst>
          </p:cNvPr>
          <p:cNvSpPr txBox="1"/>
          <p:nvPr/>
        </p:nvSpPr>
        <p:spPr>
          <a:xfrm>
            <a:off x="8733691" y="4938940"/>
            <a:ext cx="201956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Final emotion</a:t>
            </a:r>
          </a:p>
        </p:txBody>
      </p:sp>
      <p:sp>
        <p:nvSpPr>
          <p:cNvPr id="3089" name="TextBox 3088">
            <a:extLst>
              <a:ext uri="{FF2B5EF4-FFF2-40B4-BE49-F238E27FC236}">
                <a16:creationId xmlns:a16="http://schemas.microsoft.com/office/drawing/2014/main" id="{9CA3AACE-0FEC-093E-A5E5-4C86AE295D15}"/>
              </a:ext>
            </a:extLst>
          </p:cNvPr>
          <p:cNvSpPr txBox="1"/>
          <p:nvPr/>
        </p:nvSpPr>
        <p:spPr>
          <a:xfrm>
            <a:off x="8733691" y="2640236"/>
            <a:ext cx="201956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Distraction level</a:t>
            </a:r>
          </a:p>
        </p:txBody>
      </p:sp>
      <p:sp>
        <p:nvSpPr>
          <p:cNvPr id="3091" name="TextBox 3090">
            <a:extLst>
              <a:ext uri="{FF2B5EF4-FFF2-40B4-BE49-F238E27FC236}">
                <a16:creationId xmlns:a16="http://schemas.microsoft.com/office/drawing/2014/main" id="{08D31862-9190-95A2-B1FD-24903C202C50}"/>
              </a:ext>
            </a:extLst>
          </p:cNvPr>
          <p:cNvSpPr txBox="1"/>
          <p:nvPr/>
        </p:nvSpPr>
        <p:spPr>
          <a:xfrm>
            <a:off x="8733691" y="3962006"/>
            <a:ext cx="20195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UI</a:t>
            </a:r>
          </a:p>
        </p:txBody>
      </p:sp>
      <p:sp>
        <p:nvSpPr>
          <p:cNvPr id="3092" name="TextBox 3091">
            <a:extLst>
              <a:ext uri="{FF2B5EF4-FFF2-40B4-BE49-F238E27FC236}">
                <a16:creationId xmlns:a16="http://schemas.microsoft.com/office/drawing/2014/main" id="{2944BC4B-B378-847C-2010-2A0361FFCFCF}"/>
              </a:ext>
            </a:extLst>
          </p:cNvPr>
          <p:cNvSpPr txBox="1"/>
          <p:nvPr/>
        </p:nvSpPr>
        <p:spPr>
          <a:xfrm>
            <a:off x="4406795" y="5303578"/>
            <a:ext cx="1070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>
                <a:solidFill>
                  <a:srgbClr val="FF0000"/>
                </a:solidFill>
              </a:rPr>
              <a:t>LamNet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094" name="TextBox 3093">
            <a:extLst>
              <a:ext uri="{FF2B5EF4-FFF2-40B4-BE49-F238E27FC236}">
                <a16:creationId xmlns:a16="http://schemas.microsoft.com/office/drawing/2014/main" id="{5FCFBBE1-F15D-054A-975B-44583EF20A21}"/>
              </a:ext>
            </a:extLst>
          </p:cNvPr>
          <p:cNvSpPr txBox="1"/>
          <p:nvPr/>
        </p:nvSpPr>
        <p:spPr>
          <a:xfrm>
            <a:off x="4274102" y="2422665"/>
            <a:ext cx="1394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>
                <a:solidFill>
                  <a:srgbClr val="FF0000"/>
                </a:solidFill>
              </a:rPr>
              <a:t>MobileNet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096" name="TextBox 3095">
            <a:extLst>
              <a:ext uri="{FF2B5EF4-FFF2-40B4-BE49-F238E27FC236}">
                <a16:creationId xmlns:a16="http://schemas.microsoft.com/office/drawing/2014/main" id="{B939DABB-46C3-C8D6-392E-442B0B89FDC8}"/>
              </a:ext>
            </a:extLst>
          </p:cNvPr>
          <p:cNvSpPr txBox="1"/>
          <p:nvPr/>
        </p:nvSpPr>
        <p:spPr>
          <a:xfrm rot="1796235">
            <a:off x="4148321" y="3674032"/>
            <a:ext cx="1396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>
                <a:solidFill>
                  <a:srgbClr val="FF0000"/>
                </a:solidFill>
              </a:rPr>
              <a:t>MobileNet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03ADC7-C43F-7273-BFA9-2F76BE094CF4}"/>
              </a:ext>
            </a:extLst>
          </p:cNvPr>
          <p:cNvSpPr txBox="1"/>
          <p:nvPr/>
        </p:nvSpPr>
        <p:spPr>
          <a:xfrm>
            <a:off x="7566418" y="4809809"/>
            <a:ext cx="10211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Fusion model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6DF0362-C81C-0177-9168-97163C81FCE1}"/>
              </a:ext>
            </a:extLst>
          </p:cNvPr>
          <p:cNvSpPr/>
          <p:nvPr/>
        </p:nvSpPr>
        <p:spPr>
          <a:xfrm>
            <a:off x="3843867" y="450462"/>
            <a:ext cx="4504267" cy="1323439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AB485E-E483-9954-261F-BA17BBF8536A}"/>
              </a:ext>
            </a:extLst>
          </p:cNvPr>
          <p:cNvSpPr txBox="1"/>
          <p:nvPr/>
        </p:nvSpPr>
        <p:spPr>
          <a:xfrm>
            <a:off x="4167742" y="440081"/>
            <a:ext cx="385651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ARCHITECTURE version 2</a:t>
            </a:r>
          </a:p>
        </p:txBody>
      </p:sp>
    </p:spTree>
    <p:extLst>
      <p:ext uri="{BB962C8B-B14F-4D97-AF65-F5344CB8AC3E}">
        <p14:creationId xmlns:p14="http://schemas.microsoft.com/office/powerpoint/2010/main" val="34885589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20000"/>
                <a:lumOff val="80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318EBA-7139-3904-1706-545150B41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3F3803C-70A9-11CB-BC5A-1925575C1B04}"/>
              </a:ext>
            </a:extLst>
          </p:cNvPr>
          <p:cNvSpPr/>
          <p:nvPr/>
        </p:nvSpPr>
        <p:spPr>
          <a:xfrm>
            <a:off x="3843867" y="450462"/>
            <a:ext cx="4504267" cy="1323439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014A70-69C1-C8D8-70A3-8E43568E1A1F}"/>
              </a:ext>
            </a:extLst>
          </p:cNvPr>
          <p:cNvSpPr txBox="1"/>
          <p:nvPr/>
        </p:nvSpPr>
        <p:spPr>
          <a:xfrm>
            <a:off x="4520138" y="758238"/>
            <a:ext cx="31517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EVALUATION</a:t>
            </a:r>
          </a:p>
        </p:txBody>
      </p:sp>
      <p:sp>
        <p:nvSpPr>
          <p:cNvPr id="10" name="Rectangle: Top Corners One Rounded and One Snipped 9">
            <a:extLst>
              <a:ext uri="{FF2B5EF4-FFF2-40B4-BE49-F238E27FC236}">
                <a16:creationId xmlns:a16="http://schemas.microsoft.com/office/drawing/2014/main" id="{7DF98401-1B70-3EBF-2552-834454EBD5BA}"/>
              </a:ext>
            </a:extLst>
          </p:cNvPr>
          <p:cNvSpPr/>
          <p:nvPr/>
        </p:nvSpPr>
        <p:spPr>
          <a:xfrm>
            <a:off x="419099" y="2273162"/>
            <a:ext cx="11353799" cy="4134376"/>
          </a:xfrm>
          <a:prstGeom prst="snip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 prst="relaxedIns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1E3851-187F-0A2F-8286-0A6B32BF7EC8}"/>
              </a:ext>
            </a:extLst>
          </p:cNvPr>
          <p:cNvSpPr txBox="1"/>
          <p:nvPr/>
        </p:nvSpPr>
        <p:spPr>
          <a:xfrm>
            <a:off x="1078552" y="2943773"/>
            <a:ext cx="5694782" cy="31255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innerShdw blurRad="114300">
              <a:prstClr val="black"/>
            </a:innerShdw>
          </a:effectLst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19D078-F6D8-3B85-367E-9AF60D9A54EE}"/>
              </a:ext>
            </a:extLst>
          </p:cNvPr>
          <p:cNvSpPr txBox="1"/>
          <p:nvPr/>
        </p:nvSpPr>
        <p:spPr>
          <a:xfrm>
            <a:off x="1245176" y="3322581"/>
            <a:ext cx="672290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Feature level information is lost.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B741AE9-692F-0C0A-5D69-36CE0554E5DF}"/>
              </a:ext>
            </a:extLst>
          </p:cNvPr>
          <p:cNvSpPr txBox="1"/>
          <p:nvPr/>
        </p:nvSpPr>
        <p:spPr>
          <a:xfrm>
            <a:off x="1245175" y="3939434"/>
            <a:ext cx="50455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Limited improvement in accuracy.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2C4A5D9-C34F-85F9-5B7D-CB661E670629}"/>
              </a:ext>
            </a:extLst>
          </p:cNvPr>
          <p:cNvSpPr txBox="1"/>
          <p:nvPr/>
        </p:nvSpPr>
        <p:spPr>
          <a:xfrm>
            <a:off x="1245174" y="5266873"/>
            <a:ext cx="443324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No spoof identification.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8FA8258-1835-E558-00E9-A7C93942C945}"/>
              </a:ext>
            </a:extLst>
          </p:cNvPr>
          <p:cNvSpPr txBox="1"/>
          <p:nvPr/>
        </p:nvSpPr>
        <p:spPr>
          <a:xfrm>
            <a:off x="1245174" y="4556799"/>
            <a:ext cx="542655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Heavy on machine to train. ( ~30-50 min per epoch 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069C76-8240-A044-154B-DA8BAA6CBCB7}"/>
              </a:ext>
            </a:extLst>
          </p:cNvPr>
          <p:cNvSpPr txBox="1"/>
          <p:nvPr/>
        </p:nvSpPr>
        <p:spPr>
          <a:xfrm>
            <a:off x="7035800" y="2943773"/>
            <a:ext cx="4077648" cy="31255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innerShdw blurRad="114300">
              <a:prstClr val="black"/>
            </a:innerShdw>
          </a:effectLst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CFFAE5-9228-8006-A71A-11B33B3298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3955" y="3046250"/>
            <a:ext cx="3441337" cy="2920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8729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20000"/>
                <a:lumOff val="80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86041B-5332-AB0F-BF5C-74D0CF119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5" name="TextBox 3084">
            <a:extLst>
              <a:ext uri="{FF2B5EF4-FFF2-40B4-BE49-F238E27FC236}">
                <a16:creationId xmlns:a16="http://schemas.microsoft.com/office/drawing/2014/main" id="{5971977E-C879-DDB5-58B7-E7EFCDF68848}"/>
              </a:ext>
            </a:extLst>
          </p:cNvPr>
          <p:cNvSpPr txBox="1"/>
          <p:nvPr/>
        </p:nvSpPr>
        <p:spPr>
          <a:xfrm>
            <a:off x="8464599" y="2081677"/>
            <a:ext cx="3077377" cy="4194621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innerShdw blurRad="114300">
              <a:prstClr val="black"/>
            </a:innerShdw>
          </a:effectLst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0" name="Rectangle: Top Corners One Rounded and One Snipped 9">
            <a:extLst>
              <a:ext uri="{FF2B5EF4-FFF2-40B4-BE49-F238E27FC236}">
                <a16:creationId xmlns:a16="http://schemas.microsoft.com/office/drawing/2014/main" id="{0520FE40-578F-CD85-35E4-2F7B83840789}"/>
              </a:ext>
            </a:extLst>
          </p:cNvPr>
          <p:cNvSpPr/>
          <p:nvPr/>
        </p:nvSpPr>
        <p:spPr>
          <a:xfrm>
            <a:off x="902533" y="2373315"/>
            <a:ext cx="1062566" cy="935705"/>
          </a:xfrm>
          <a:prstGeom prst="snip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 prst="relaxedIns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Top Corners One Rounded and One Snipped 19">
            <a:extLst>
              <a:ext uri="{FF2B5EF4-FFF2-40B4-BE49-F238E27FC236}">
                <a16:creationId xmlns:a16="http://schemas.microsoft.com/office/drawing/2014/main" id="{C3FBB7CF-F479-84B9-BB5E-C9B6D402B9E1}"/>
              </a:ext>
            </a:extLst>
          </p:cNvPr>
          <p:cNvSpPr/>
          <p:nvPr/>
        </p:nvSpPr>
        <p:spPr>
          <a:xfrm>
            <a:off x="902531" y="5340594"/>
            <a:ext cx="1062566" cy="935705"/>
          </a:xfrm>
          <a:prstGeom prst="snip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 prst="relaxedIns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4,900+ Video Camera Cartoon Stock Photos, Pictures &amp; Royalty-Free Images -  iStock">
            <a:extLst>
              <a:ext uri="{FF2B5EF4-FFF2-40B4-BE49-F238E27FC236}">
                <a16:creationId xmlns:a16="http://schemas.microsoft.com/office/drawing/2014/main" id="{EEC1BF38-04AA-947F-F8BC-8004277E15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/>
        </p:blipFill>
        <p:spPr bwMode="auto">
          <a:xfrm>
            <a:off x="736366" y="2143717"/>
            <a:ext cx="1394900" cy="1394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3d Cartoon Microphone Clip Art Illustration Podcast Recording Studio, Art  Clipart, Microphone Clipart, Cartoon Clipart PNG Transparent Image and  Clipart for Free Download">
            <a:extLst>
              <a:ext uri="{FF2B5EF4-FFF2-40B4-BE49-F238E27FC236}">
                <a16:creationId xmlns:a16="http://schemas.microsoft.com/office/drawing/2014/main" id="{685DE3F5-8685-899C-56C0-CC1F1FA66E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961" y="5340594"/>
            <a:ext cx="935705" cy="935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Arrow: Right 20">
            <a:extLst>
              <a:ext uri="{FF2B5EF4-FFF2-40B4-BE49-F238E27FC236}">
                <a16:creationId xmlns:a16="http://schemas.microsoft.com/office/drawing/2014/main" id="{8FB9CD38-616A-E8C3-5514-9530804819E8}"/>
              </a:ext>
            </a:extLst>
          </p:cNvPr>
          <p:cNvSpPr/>
          <p:nvPr/>
        </p:nvSpPr>
        <p:spPr>
          <a:xfrm>
            <a:off x="2131266" y="2773433"/>
            <a:ext cx="790567" cy="394865"/>
          </a:xfrm>
          <a:prstGeom prst="rightArrow">
            <a:avLst/>
          </a:prstGeom>
          <a:solidFill>
            <a:schemeClr val="bg1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81481A32-B730-33C8-ECA9-1392D68A6522}"/>
              </a:ext>
            </a:extLst>
          </p:cNvPr>
          <p:cNvSpPr/>
          <p:nvPr/>
        </p:nvSpPr>
        <p:spPr>
          <a:xfrm>
            <a:off x="2131264" y="5637011"/>
            <a:ext cx="790567" cy="394865"/>
          </a:xfrm>
          <a:prstGeom prst="rightArrow">
            <a:avLst/>
          </a:prstGeom>
          <a:solidFill>
            <a:schemeClr val="bg1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8" name="Picture 6" descr="Image File Icon for Easy File Management">
            <a:extLst>
              <a:ext uri="{FF2B5EF4-FFF2-40B4-BE49-F238E27FC236}">
                <a16:creationId xmlns:a16="http://schemas.microsoft.com/office/drawing/2014/main" id="{71FA9C8A-046C-ACC5-793D-4DFBB69CE1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1903" y="2373315"/>
            <a:ext cx="914759" cy="914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Rectangle: Top Corners One Rounded and One Snipped 28">
            <a:extLst>
              <a:ext uri="{FF2B5EF4-FFF2-40B4-BE49-F238E27FC236}">
                <a16:creationId xmlns:a16="http://schemas.microsoft.com/office/drawing/2014/main" id="{D6938666-89C2-AFA1-848D-8DB936111CA0}"/>
              </a:ext>
            </a:extLst>
          </p:cNvPr>
          <p:cNvSpPr/>
          <p:nvPr/>
        </p:nvSpPr>
        <p:spPr>
          <a:xfrm>
            <a:off x="3088000" y="2373315"/>
            <a:ext cx="1062566" cy="935705"/>
          </a:xfrm>
          <a:prstGeom prst="snip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 prst="relaxedIns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80" name="Picture 8" descr="Audio file - Free files and folders icons">
            <a:extLst>
              <a:ext uri="{FF2B5EF4-FFF2-40B4-BE49-F238E27FC236}">
                <a16:creationId xmlns:a16="http://schemas.microsoft.com/office/drawing/2014/main" id="{0D994BA5-05D9-B559-27B7-975C0BB8FA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4559" y="5423724"/>
            <a:ext cx="769442" cy="769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Rectangle: Top Corners One Rounded and One Snipped 32">
            <a:extLst>
              <a:ext uri="{FF2B5EF4-FFF2-40B4-BE49-F238E27FC236}">
                <a16:creationId xmlns:a16="http://schemas.microsoft.com/office/drawing/2014/main" id="{6D0D179C-6798-8A44-013C-36A98E227636}"/>
              </a:ext>
            </a:extLst>
          </p:cNvPr>
          <p:cNvSpPr/>
          <p:nvPr/>
        </p:nvSpPr>
        <p:spPr>
          <a:xfrm>
            <a:off x="3087997" y="5340593"/>
            <a:ext cx="1062566" cy="935705"/>
          </a:xfrm>
          <a:prstGeom prst="snip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 prst="relaxedIns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73CD35C2-04CE-8DE0-1883-1C61109C45C6}"/>
              </a:ext>
            </a:extLst>
          </p:cNvPr>
          <p:cNvSpPr/>
          <p:nvPr/>
        </p:nvSpPr>
        <p:spPr>
          <a:xfrm>
            <a:off x="4316729" y="5637011"/>
            <a:ext cx="790567" cy="394865"/>
          </a:xfrm>
          <a:prstGeom prst="rightArrow">
            <a:avLst/>
          </a:prstGeom>
          <a:solidFill>
            <a:schemeClr val="bg1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Arrow: Right 43">
            <a:extLst>
              <a:ext uri="{FF2B5EF4-FFF2-40B4-BE49-F238E27FC236}">
                <a16:creationId xmlns:a16="http://schemas.microsoft.com/office/drawing/2014/main" id="{4A54351A-99A8-75F9-54C6-07BD5790D170}"/>
              </a:ext>
            </a:extLst>
          </p:cNvPr>
          <p:cNvSpPr/>
          <p:nvPr/>
        </p:nvSpPr>
        <p:spPr>
          <a:xfrm>
            <a:off x="4316731" y="2773432"/>
            <a:ext cx="1261312" cy="394865"/>
          </a:xfrm>
          <a:prstGeom prst="rightArrow">
            <a:avLst/>
          </a:prstGeom>
          <a:solidFill>
            <a:schemeClr val="bg1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84" name="Picture 12" descr="Fake Real Being Doubt Suspicious Critical Stock Illustration 743523952 |  Shutterstock">
            <a:extLst>
              <a:ext uri="{FF2B5EF4-FFF2-40B4-BE49-F238E27FC236}">
                <a16:creationId xmlns:a16="http://schemas.microsoft.com/office/drawing/2014/main" id="{BD077122-B723-378B-310D-A171730A6E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216"/>
          <a:stretch>
            <a:fillRect/>
          </a:stretch>
        </p:blipFill>
        <p:spPr bwMode="auto">
          <a:xfrm>
            <a:off x="5876264" y="2450797"/>
            <a:ext cx="1330725" cy="1048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" name="Rectangle: Top Corners One Rounded and One Snipped 47">
            <a:extLst>
              <a:ext uri="{FF2B5EF4-FFF2-40B4-BE49-F238E27FC236}">
                <a16:creationId xmlns:a16="http://schemas.microsoft.com/office/drawing/2014/main" id="{F1525AF8-E187-768C-3CD1-95CA3E167056}"/>
              </a:ext>
            </a:extLst>
          </p:cNvPr>
          <p:cNvSpPr/>
          <p:nvPr/>
        </p:nvSpPr>
        <p:spPr>
          <a:xfrm>
            <a:off x="5799472" y="2373316"/>
            <a:ext cx="1484311" cy="1234388"/>
          </a:xfrm>
          <a:prstGeom prst="snip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 prst="relaxedIns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Arrow: Right 50">
            <a:extLst>
              <a:ext uri="{FF2B5EF4-FFF2-40B4-BE49-F238E27FC236}">
                <a16:creationId xmlns:a16="http://schemas.microsoft.com/office/drawing/2014/main" id="{63075EB7-D807-9E9F-6BE5-3B2E8130DF8A}"/>
              </a:ext>
            </a:extLst>
          </p:cNvPr>
          <p:cNvSpPr/>
          <p:nvPr/>
        </p:nvSpPr>
        <p:spPr>
          <a:xfrm rot="1704408">
            <a:off x="4289520" y="3386540"/>
            <a:ext cx="790567" cy="394865"/>
          </a:xfrm>
          <a:prstGeom prst="rightArrow">
            <a:avLst/>
          </a:prstGeom>
          <a:solidFill>
            <a:schemeClr val="bg1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Arrow: Right 58">
            <a:extLst>
              <a:ext uri="{FF2B5EF4-FFF2-40B4-BE49-F238E27FC236}">
                <a16:creationId xmlns:a16="http://schemas.microsoft.com/office/drawing/2014/main" id="{2BAFEA70-09CD-3830-E8D9-4504E27D597F}"/>
              </a:ext>
            </a:extLst>
          </p:cNvPr>
          <p:cNvSpPr/>
          <p:nvPr/>
        </p:nvSpPr>
        <p:spPr>
          <a:xfrm rot="1802974">
            <a:off x="5744898" y="4090610"/>
            <a:ext cx="790567" cy="394865"/>
          </a:xfrm>
          <a:prstGeom prst="rightArrow">
            <a:avLst/>
          </a:prstGeom>
          <a:solidFill>
            <a:schemeClr val="bg1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Arrow: Right 60">
            <a:extLst>
              <a:ext uri="{FF2B5EF4-FFF2-40B4-BE49-F238E27FC236}">
                <a16:creationId xmlns:a16="http://schemas.microsoft.com/office/drawing/2014/main" id="{196F94AD-BE4E-F0AD-CB60-E2F1EE822D3A}"/>
              </a:ext>
            </a:extLst>
          </p:cNvPr>
          <p:cNvSpPr/>
          <p:nvPr/>
        </p:nvSpPr>
        <p:spPr>
          <a:xfrm rot="19980316">
            <a:off x="5777256" y="5535648"/>
            <a:ext cx="790567" cy="394865"/>
          </a:xfrm>
          <a:prstGeom prst="rightArrow">
            <a:avLst/>
          </a:prstGeom>
          <a:solidFill>
            <a:schemeClr val="bg1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: Top Corners One Rounded and One Snipped 62">
            <a:extLst>
              <a:ext uri="{FF2B5EF4-FFF2-40B4-BE49-F238E27FC236}">
                <a16:creationId xmlns:a16="http://schemas.microsoft.com/office/drawing/2014/main" id="{534917C6-87BF-806A-456E-FE8A5C5F45EE}"/>
              </a:ext>
            </a:extLst>
          </p:cNvPr>
          <p:cNvSpPr/>
          <p:nvPr/>
        </p:nvSpPr>
        <p:spPr>
          <a:xfrm>
            <a:off x="8737009" y="4864586"/>
            <a:ext cx="2532555" cy="1234388"/>
          </a:xfrm>
          <a:prstGeom prst="snip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 prst="relaxedIns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77" name="Rectangle: Top Corners One Rounded and One Snipped 3076">
            <a:extLst>
              <a:ext uri="{FF2B5EF4-FFF2-40B4-BE49-F238E27FC236}">
                <a16:creationId xmlns:a16="http://schemas.microsoft.com/office/drawing/2014/main" id="{A06FB4DE-8440-3BCC-298D-5DB6145B5DD5}"/>
              </a:ext>
            </a:extLst>
          </p:cNvPr>
          <p:cNvSpPr/>
          <p:nvPr/>
        </p:nvSpPr>
        <p:spPr>
          <a:xfrm>
            <a:off x="8737009" y="2291030"/>
            <a:ext cx="2532555" cy="1936207"/>
          </a:xfrm>
          <a:prstGeom prst="snip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 prst="relaxedIns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81" name="Arrow: Right 3080">
            <a:extLst>
              <a:ext uri="{FF2B5EF4-FFF2-40B4-BE49-F238E27FC236}">
                <a16:creationId xmlns:a16="http://schemas.microsoft.com/office/drawing/2014/main" id="{1DD8BB64-3BA1-C619-BA2C-95C99433611B}"/>
              </a:ext>
            </a:extLst>
          </p:cNvPr>
          <p:cNvSpPr/>
          <p:nvPr/>
        </p:nvSpPr>
        <p:spPr>
          <a:xfrm>
            <a:off x="7421115" y="2773433"/>
            <a:ext cx="790567" cy="394865"/>
          </a:xfrm>
          <a:prstGeom prst="rightArrow">
            <a:avLst/>
          </a:prstGeom>
          <a:solidFill>
            <a:schemeClr val="bg1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7" name="TextBox 3086">
            <a:extLst>
              <a:ext uri="{FF2B5EF4-FFF2-40B4-BE49-F238E27FC236}">
                <a16:creationId xmlns:a16="http://schemas.microsoft.com/office/drawing/2014/main" id="{EDD5FBF0-566D-B9EC-8D24-669DCAE18AC5}"/>
              </a:ext>
            </a:extLst>
          </p:cNvPr>
          <p:cNvSpPr txBox="1"/>
          <p:nvPr/>
        </p:nvSpPr>
        <p:spPr>
          <a:xfrm>
            <a:off x="8993503" y="5097059"/>
            <a:ext cx="201956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Final emotion</a:t>
            </a:r>
          </a:p>
        </p:txBody>
      </p:sp>
      <p:sp>
        <p:nvSpPr>
          <p:cNvPr id="3089" name="TextBox 3088">
            <a:extLst>
              <a:ext uri="{FF2B5EF4-FFF2-40B4-BE49-F238E27FC236}">
                <a16:creationId xmlns:a16="http://schemas.microsoft.com/office/drawing/2014/main" id="{4898B4C8-3FCF-BE22-A985-FD3F6297980D}"/>
              </a:ext>
            </a:extLst>
          </p:cNvPr>
          <p:cNvSpPr txBox="1"/>
          <p:nvPr/>
        </p:nvSpPr>
        <p:spPr>
          <a:xfrm>
            <a:off x="8993503" y="2373315"/>
            <a:ext cx="2019566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Spoof Detection</a:t>
            </a:r>
          </a:p>
          <a:p>
            <a:pPr algn="ctr"/>
            <a:r>
              <a:rPr lang="en-US" sz="2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&amp;</a:t>
            </a:r>
          </a:p>
          <a:p>
            <a:pPr algn="ctr"/>
            <a:r>
              <a:rPr lang="en-US" sz="2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Distraction level</a:t>
            </a:r>
          </a:p>
        </p:txBody>
      </p:sp>
      <p:sp>
        <p:nvSpPr>
          <p:cNvPr id="3091" name="TextBox 3090">
            <a:extLst>
              <a:ext uri="{FF2B5EF4-FFF2-40B4-BE49-F238E27FC236}">
                <a16:creationId xmlns:a16="http://schemas.microsoft.com/office/drawing/2014/main" id="{61612893-5A99-F425-80A6-D295894435CE}"/>
              </a:ext>
            </a:extLst>
          </p:cNvPr>
          <p:cNvSpPr txBox="1"/>
          <p:nvPr/>
        </p:nvSpPr>
        <p:spPr>
          <a:xfrm>
            <a:off x="8993503" y="4296058"/>
            <a:ext cx="20195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UI</a:t>
            </a:r>
          </a:p>
        </p:txBody>
      </p:sp>
      <p:sp>
        <p:nvSpPr>
          <p:cNvPr id="3092" name="TextBox 3091">
            <a:extLst>
              <a:ext uri="{FF2B5EF4-FFF2-40B4-BE49-F238E27FC236}">
                <a16:creationId xmlns:a16="http://schemas.microsoft.com/office/drawing/2014/main" id="{51727F4C-17B4-57AD-F358-5FE3C02229CE}"/>
              </a:ext>
            </a:extLst>
          </p:cNvPr>
          <p:cNvSpPr txBox="1"/>
          <p:nvPr/>
        </p:nvSpPr>
        <p:spPr>
          <a:xfrm>
            <a:off x="4116454" y="5319773"/>
            <a:ext cx="1070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Whisper</a:t>
            </a:r>
          </a:p>
        </p:txBody>
      </p:sp>
      <p:sp>
        <p:nvSpPr>
          <p:cNvPr id="3096" name="TextBox 3095">
            <a:extLst>
              <a:ext uri="{FF2B5EF4-FFF2-40B4-BE49-F238E27FC236}">
                <a16:creationId xmlns:a16="http://schemas.microsoft.com/office/drawing/2014/main" id="{1F6AA603-F036-D405-DE22-380E418A4E4C}"/>
              </a:ext>
            </a:extLst>
          </p:cNvPr>
          <p:cNvSpPr txBox="1"/>
          <p:nvPr/>
        </p:nvSpPr>
        <p:spPr>
          <a:xfrm rot="1796235">
            <a:off x="3746677" y="3685954"/>
            <a:ext cx="1458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>
                <a:solidFill>
                  <a:srgbClr val="FF0000"/>
                </a:solidFill>
              </a:rPr>
              <a:t>EfficientNet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1026" name="Picture 2" descr="Convolutional Neural Networks from scratch | by Sanan Ahmadov | Medium">
            <a:extLst>
              <a:ext uri="{FF2B5EF4-FFF2-40B4-BE49-F238E27FC236}">
                <a16:creationId xmlns:a16="http://schemas.microsoft.com/office/drawing/2014/main" id="{98720300-CA97-40B2-8617-C6A778CFE2C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/>
          <a:srcRect l="32507" t="11957" r="44142" b="48008"/>
          <a:stretch>
            <a:fillRect/>
          </a:stretch>
        </p:blipFill>
        <p:spPr bwMode="auto">
          <a:xfrm>
            <a:off x="5034610" y="3347648"/>
            <a:ext cx="720628" cy="1426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Convolutional Neural Networks from scratch | by Sanan Ahmadov | Medium">
            <a:extLst>
              <a:ext uri="{FF2B5EF4-FFF2-40B4-BE49-F238E27FC236}">
                <a16:creationId xmlns:a16="http://schemas.microsoft.com/office/drawing/2014/main" id="{B499CFEB-2563-D809-DA73-97C3F572BD5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/>
          <a:srcRect l="32507" t="11957" r="44142" b="48008"/>
          <a:stretch>
            <a:fillRect/>
          </a:stretch>
        </p:blipFill>
        <p:spPr bwMode="auto">
          <a:xfrm>
            <a:off x="5083138" y="5121350"/>
            <a:ext cx="720628" cy="1426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Convolutional Neural Networks from scratch | by Sanan Ahmadov | Medium">
            <a:extLst>
              <a:ext uri="{FF2B5EF4-FFF2-40B4-BE49-F238E27FC236}">
                <a16:creationId xmlns:a16="http://schemas.microsoft.com/office/drawing/2014/main" id="{2A003491-3B33-2698-7A4D-C1C39F5E14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/>
          <a:srcRect l="32507" t="11956" r="44142" b="5591"/>
          <a:stretch>
            <a:fillRect/>
          </a:stretch>
        </p:blipFill>
        <p:spPr bwMode="auto">
          <a:xfrm>
            <a:off x="6700487" y="3610285"/>
            <a:ext cx="720628" cy="2937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2B47D9C-6DCF-7473-4F2F-0CAC213352E3}"/>
              </a:ext>
            </a:extLst>
          </p:cNvPr>
          <p:cNvSpPr txBox="1"/>
          <p:nvPr/>
        </p:nvSpPr>
        <p:spPr>
          <a:xfrm>
            <a:off x="5744459" y="4692086"/>
            <a:ext cx="12032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Weighted fusion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9B009A-2FF8-A2A1-CDD4-9877E6B37C1D}"/>
              </a:ext>
            </a:extLst>
          </p:cNvPr>
          <p:cNvSpPr txBox="1"/>
          <p:nvPr/>
        </p:nvSpPr>
        <p:spPr>
          <a:xfrm>
            <a:off x="4194800" y="2488296"/>
            <a:ext cx="1458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>
                <a:solidFill>
                  <a:srgbClr val="FF0000"/>
                </a:solidFill>
              </a:rPr>
              <a:t>EfficientNet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F01A5ED0-99DC-8CE0-62B7-3F13205A2757}"/>
              </a:ext>
            </a:extLst>
          </p:cNvPr>
          <p:cNvSpPr/>
          <p:nvPr/>
        </p:nvSpPr>
        <p:spPr>
          <a:xfrm>
            <a:off x="7421886" y="4982871"/>
            <a:ext cx="790567" cy="394865"/>
          </a:xfrm>
          <a:prstGeom prst="rightArrow">
            <a:avLst/>
          </a:prstGeom>
          <a:solidFill>
            <a:schemeClr val="bg1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698782B-1E70-A11C-30DE-BBEB9EF28154}"/>
              </a:ext>
            </a:extLst>
          </p:cNvPr>
          <p:cNvSpPr txBox="1"/>
          <p:nvPr/>
        </p:nvSpPr>
        <p:spPr>
          <a:xfrm>
            <a:off x="7284308" y="4679920"/>
            <a:ext cx="877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CNN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E4B1741-4836-662A-CEF3-EFDCA84B2BEB}"/>
              </a:ext>
            </a:extLst>
          </p:cNvPr>
          <p:cNvSpPr/>
          <p:nvPr/>
        </p:nvSpPr>
        <p:spPr>
          <a:xfrm>
            <a:off x="3843867" y="450462"/>
            <a:ext cx="4504267" cy="1323439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6F06807-DD1B-5A5F-2B99-4E858DD1B940}"/>
              </a:ext>
            </a:extLst>
          </p:cNvPr>
          <p:cNvSpPr txBox="1"/>
          <p:nvPr/>
        </p:nvSpPr>
        <p:spPr>
          <a:xfrm>
            <a:off x="4167742" y="440081"/>
            <a:ext cx="385651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ARCHITECTURE version 3</a:t>
            </a:r>
          </a:p>
        </p:txBody>
      </p:sp>
    </p:spTree>
    <p:extLst>
      <p:ext uri="{BB962C8B-B14F-4D97-AF65-F5344CB8AC3E}">
        <p14:creationId xmlns:p14="http://schemas.microsoft.com/office/powerpoint/2010/main" val="4387272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20000"/>
                <a:lumOff val="80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C873D3-62BF-7636-249E-CECE08BA8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C275C5A-EE9B-EE96-ECF3-EBD5D22E7E4F}"/>
              </a:ext>
            </a:extLst>
          </p:cNvPr>
          <p:cNvSpPr/>
          <p:nvPr/>
        </p:nvSpPr>
        <p:spPr>
          <a:xfrm>
            <a:off x="3843867" y="450462"/>
            <a:ext cx="4504267" cy="1323439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758EF1-E9BD-E345-3D53-EA41766CB616}"/>
              </a:ext>
            </a:extLst>
          </p:cNvPr>
          <p:cNvSpPr txBox="1"/>
          <p:nvPr/>
        </p:nvSpPr>
        <p:spPr>
          <a:xfrm>
            <a:off x="4520138" y="758238"/>
            <a:ext cx="31517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EVALUATION</a:t>
            </a:r>
          </a:p>
        </p:txBody>
      </p:sp>
      <p:sp>
        <p:nvSpPr>
          <p:cNvPr id="10" name="Rectangle: Top Corners One Rounded and One Snipped 9">
            <a:extLst>
              <a:ext uri="{FF2B5EF4-FFF2-40B4-BE49-F238E27FC236}">
                <a16:creationId xmlns:a16="http://schemas.microsoft.com/office/drawing/2014/main" id="{1F60C9B4-BB94-725C-E232-5BE5D4B78ECE}"/>
              </a:ext>
            </a:extLst>
          </p:cNvPr>
          <p:cNvSpPr/>
          <p:nvPr/>
        </p:nvSpPr>
        <p:spPr>
          <a:xfrm>
            <a:off x="419099" y="2273162"/>
            <a:ext cx="11353799" cy="4134376"/>
          </a:xfrm>
          <a:prstGeom prst="snip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 prst="relaxedIns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510842-C05F-D628-FCE2-A54A9ECBC62D}"/>
              </a:ext>
            </a:extLst>
          </p:cNvPr>
          <p:cNvSpPr txBox="1"/>
          <p:nvPr/>
        </p:nvSpPr>
        <p:spPr>
          <a:xfrm>
            <a:off x="1078552" y="2943773"/>
            <a:ext cx="5212181" cy="31255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innerShdw blurRad="114300">
              <a:prstClr val="black"/>
            </a:innerShdw>
          </a:effectLst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3CF0473-A394-D123-CDC0-6D7ED94F3031}"/>
              </a:ext>
            </a:extLst>
          </p:cNvPr>
          <p:cNvSpPr txBox="1"/>
          <p:nvPr/>
        </p:nvSpPr>
        <p:spPr>
          <a:xfrm>
            <a:off x="1245176" y="3322581"/>
            <a:ext cx="672290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Feature level information is lost.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058090B-2DE3-7480-4E68-0D000DB0A57A}"/>
              </a:ext>
            </a:extLst>
          </p:cNvPr>
          <p:cNvSpPr txBox="1"/>
          <p:nvPr/>
        </p:nvSpPr>
        <p:spPr>
          <a:xfrm>
            <a:off x="1245175" y="3939434"/>
            <a:ext cx="50455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Limited improvement in accuracy.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1EB00A-C0DF-5E3A-7C25-55CE36E0D665}"/>
              </a:ext>
            </a:extLst>
          </p:cNvPr>
          <p:cNvSpPr txBox="1"/>
          <p:nvPr/>
        </p:nvSpPr>
        <p:spPr>
          <a:xfrm>
            <a:off x="1245174" y="5266873"/>
            <a:ext cx="443324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No spoof identification.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ABFE80D-594C-2D4D-D0EF-8E313B91C4B7}"/>
              </a:ext>
            </a:extLst>
          </p:cNvPr>
          <p:cNvSpPr txBox="1"/>
          <p:nvPr/>
        </p:nvSpPr>
        <p:spPr>
          <a:xfrm>
            <a:off x="1245174" y="4556799"/>
            <a:ext cx="542655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Heavy on machine to train. ( ~30-50 min per epoch 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F24C8A-A2D7-29FA-10C0-F35E0B004D10}"/>
              </a:ext>
            </a:extLst>
          </p:cNvPr>
          <p:cNvSpPr txBox="1"/>
          <p:nvPr/>
        </p:nvSpPr>
        <p:spPr>
          <a:xfrm>
            <a:off x="7085806" y="2943773"/>
            <a:ext cx="4027642" cy="31255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innerShdw blurRad="114300">
              <a:prstClr val="black"/>
            </a:innerShdw>
          </a:effectLst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B2FC40C-4046-699E-9023-BD62A7AD1E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9716"/>
          <a:stretch>
            <a:fillRect/>
          </a:stretch>
        </p:blipFill>
        <p:spPr>
          <a:xfrm>
            <a:off x="7085807" y="2862833"/>
            <a:ext cx="4027642" cy="330091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C5C3376-466F-0219-D5CE-7E525644AB1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9736"/>
          <a:stretch>
            <a:fillRect/>
          </a:stretch>
        </p:blipFill>
        <p:spPr>
          <a:xfrm>
            <a:off x="997193" y="2849301"/>
            <a:ext cx="5510520" cy="3314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2540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20000"/>
                <a:lumOff val="80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720472-86F3-942E-2A90-FBE4909AE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9B51051-1189-AFBB-7F5B-01BE3647E3A6}"/>
              </a:ext>
            </a:extLst>
          </p:cNvPr>
          <p:cNvSpPr/>
          <p:nvPr/>
        </p:nvSpPr>
        <p:spPr>
          <a:xfrm>
            <a:off x="3843867" y="450462"/>
            <a:ext cx="4504267" cy="1323439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619420-3777-20EF-BA8B-9BD4A158EDF4}"/>
              </a:ext>
            </a:extLst>
          </p:cNvPr>
          <p:cNvSpPr txBox="1"/>
          <p:nvPr/>
        </p:nvSpPr>
        <p:spPr>
          <a:xfrm>
            <a:off x="4520138" y="758238"/>
            <a:ext cx="31517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EVALUATION</a:t>
            </a:r>
          </a:p>
        </p:txBody>
      </p:sp>
      <p:sp>
        <p:nvSpPr>
          <p:cNvPr id="10" name="Rectangle: Top Corners One Rounded and One Snipped 9">
            <a:extLst>
              <a:ext uri="{FF2B5EF4-FFF2-40B4-BE49-F238E27FC236}">
                <a16:creationId xmlns:a16="http://schemas.microsoft.com/office/drawing/2014/main" id="{3B5E94CD-1EA9-1702-4154-82CAA086B306}"/>
              </a:ext>
            </a:extLst>
          </p:cNvPr>
          <p:cNvSpPr/>
          <p:nvPr/>
        </p:nvSpPr>
        <p:spPr>
          <a:xfrm>
            <a:off x="419099" y="2273162"/>
            <a:ext cx="11353799" cy="4134376"/>
          </a:xfrm>
          <a:prstGeom prst="snip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 prst="relaxedIns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60603A-1480-6E46-3433-30F353F93112}"/>
              </a:ext>
            </a:extLst>
          </p:cNvPr>
          <p:cNvSpPr txBox="1"/>
          <p:nvPr/>
        </p:nvSpPr>
        <p:spPr>
          <a:xfrm>
            <a:off x="1078552" y="2943773"/>
            <a:ext cx="5593181" cy="31255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innerShdw blurRad="114300">
              <a:prstClr val="black"/>
            </a:innerShdw>
          </a:effectLst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DF9DFAC-9EAC-8D3F-F43E-2BF8898C8489}"/>
              </a:ext>
            </a:extLst>
          </p:cNvPr>
          <p:cNvSpPr txBox="1"/>
          <p:nvPr/>
        </p:nvSpPr>
        <p:spPr>
          <a:xfrm>
            <a:off x="1245176" y="3322581"/>
            <a:ext cx="52805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Feature level multi-modal fusion.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93FC835-DAB5-33CB-83F7-C5B540026F92}"/>
              </a:ext>
            </a:extLst>
          </p:cNvPr>
          <p:cNvSpPr txBox="1"/>
          <p:nvPr/>
        </p:nvSpPr>
        <p:spPr>
          <a:xfrm>
            <a:off x="1245175" y="3939434"/>
            <a:ext cx="50455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High improvement in accuracy.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475B68E-B970-C065-39CE-1CF7DE1546C9}"/>
              </a:ext>
            </a:extLst>
          </p:cNvPr>
          <p:cNvSpPr txBox="1"/>
          <p:nvPr/>
        </p:nvSpPr>
        <p:spPr>
          <a:xfrm>
            <a:off x="1245173" y="5266873"/>
            <a:ext cx="47915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Real-time spoof detection.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BD7C3F8-A4EB-CEC0-AE01-2BEBB11663BA}"/>
              </a:ext>
            </a:extLst>
          </p:cNvPr>
          <p:cNvSpPr txBox="1"/>
          <p:nvPr/>
        </p:nvSpPr>
        <p:spPr>
          <a:xfrm>
            <a:off x="1245174" y="4556799"/>
            <a:ext cx="542655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Faster to build and process in real-time.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714601-9CDB-143B-25A1-DE101F626BB5}"/>
              </a:ext>
            </a:extLst>
          </p:cNvPr>
          <p:cNvSpPr txBox="1"/>
          <p:nvPr/>
        </p:nvSpPr>
        <p:spPr>
          <a:xfrm>
            <a:off x="7085806" y="2943773"/>
            <a:ext cx="4027642" cy="31255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innerShdw blurRad="114300">
              <a:prstClr val="black"/>
            </a:innerShdw>
          </a:effectLst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29DF2D-6C4C-060F-E8D2-E2A20C2E74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33" y="2383236"/>
            <a:ext cx="4900216" cy="3914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8499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20000"/>
                <a:lumOff val="80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CE6BEE-9513-0728-2E43-F0F2743AE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Top Corners One Rounded and One Snipped 9">
            <a:extLst>
              <a:ext uri="{FF2B5EF4-FFF2-40B4-BE49-F238E27FC236}">
                <a16:creationId xmlns:a16="http://schemas.microsoft.com/office/drawing/2014/main" id="{3F0010D3-E3EE-5A83-FDD0-284B7BC6C541}"/>
              </a:ext>
            </a:extLst>
          </p:cNvPr>
          <p:cNvSpPr/>
          <p:nvPr/>
        </p:nvSpPr>
        <p:spPr>
          <a:xfrm>
            <a:off x="1032932" y="1667933"/>
            <a:ext cx="10210801" cy="4739605"/>
          </a:xfrm>
          <a:prstGeom prst="snip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 prst="relaxedIns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FC4B0AE-59B7-2CD6-08C7-197CF01D647E}"/>
              </a:ext>
            </a:extLst>
          </p:cNvPr>
          <p:cNvSpPr/>
          <p:nvPr/>
        </p:nvSpPr>
        <p:spPr>
          <a:xfrm>
            <a:off x="3843869" y="142625"/>
            <a:ext cx="4504267" cy="1323439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205230-A87A-B29B-0291-B4D1D5A3CB0B}"/>
              </a:ext>
            </a:extLst>
          </p:cNvPr>
          <p:cNvSpPr txBox="1"/>
          <p:nvPr/>
        </p:nvSpPr>
        <p:spPr>
          <a:xfrm>
            <a:off x="4259804" y="142056"/>
            <a:ext cx="36723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FINAL RESULTS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7C74D88-8428-5A42-1432-A9422BE9D7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0682" y="1845960"/>
            <a:ext cx="8026400" cy="4383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0173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20000"/>
                <a:lumOff val="80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10DBF7-2154-E933-0D0C-951ABD247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Top Corners One Rounded and One Snipped 9">
            <a:extLst>
              <a:ext uri="{FF2B5EF4-FFF2-40B4-BE49-F238E27FC236}">
                <a16:creationId xmlns:a16="http://schemas.microsoft.com/office/drawing/2014/main" id="{B5AD9812-5841-F6FF-D0BC-95C51DE8CA8E}"/>
              </a:ext>
            </a:extLst>
          </p:cNvPr>
          <p:cNvSpPr/>
          <p:nvPr/>
        </p:nvSpPr>
        <p:spPr>
          <a:xfrm>
            <a:off x="1032932" y="1667933"/>
            <a:ext cx="10210801" cy="4739605"/>
          </a:xfrm>
          <a:prstGeom prst="snip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 prst="relaxedIns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C76055A-A582-5A3E-AA80-6DABB823BEF3}"/>
              </a:ext>
            </a:extLst>
          </p:cNvPr>
          <p:cNvSpPr/>
          <p:nvPr/>
        </p:nvSpPr>
        <p:spPr>
          <a:xfrm>
            <a:off x="3843869" y="142625"/>
            <a:ext cx="4504267" cy="1323439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AA7418-CF84-C7D1-F42C-6B06801022D7}"/>
              </a:ext>
            </a:extLst>
          </p:cNvPr>
          <p:cNvSpPr txBox="1"/>
          <p:nvPr/>
        </p:nvSpPr>
        <p:spPr>
          <a:xfrm>
            <a:off x="4259804" y="142056"/>
            <a:ext cx="36723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FINAL RESULTS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CA56417-2321-99B3-76C2-FF3744BD0D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80682" y="1845960"/>
            <a:ext cx="8026399" cy="4383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1472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20000"/>
                <a:lumOff val="80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BD3B97-2D5C-26BE-67D9-B45EEE001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Top Corners One Rounded and One Snipped 9">
            <a:extLst>
              <a:ext uri="{FF2B5EF4-FFF2-40B4-BE49-F238E27FC236}">
                <a16:creationId xmlns:a16="http://schemas.microsoft.com/office/drawing/2014/main" id="{7F8011D9-34DE-A5E8-2E31-5445E012F1D9}"/>
              </a:ext>
            </a:extLst>
          </p:cNvPr>
          <p:cNvSpPr/>
          <p:nvPr/>
        </p:nvSpPr>
        <p:spPr>
          <a:xfrm>
            <a:off x="1032932" y="1667933"/>
            <a:ext cx="10210801" cy="4739605"/>
          </a:xfrm>
          <a:prstGeom prst="snip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 prst="relaxedIns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A02C4D9-5A35-9402-D9E8-D2B87E8272AF}"/>
              </a:ext>
            </a:extLst>
          </p:cNvPr>
          <p:cNvSpPr/>
          <p:nvPr/>
        </p:nvSpPr>
        <p:spPr>
          <a:xfrm>
            <a:off x="3843869" y="142625"/>
            <a:ext cx="4504267" cy="1323439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BEB6B6-BF4B-AF80-3563-0F6073EE15A3}"/>
              </a:ext>
            </a:extLst>
          </p:cNvPr>
          <p:cNvSpPr txBox="1"/>
          <p:nvPr/>
        </p:nvSpPr>
        <p:spPr>
          <a:xfrm>
            <a:off x="4259804" y="142056"/>
            <a:ext cx="36723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FINAL RESULTS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8D82B7E-0F32-E391-D500-90C045BFE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80682" y="1868437"/>
            <a:ext cx="8026400" cy="4338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7357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20000"/>
                <a:lumOff val="80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F7D7FA-5E48-94F8-3E07-346292D8F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Top Corners One Rounded and One Snipped 9">
            <a:extLst>
              <a:ext uri="{FF2B5EF4-FFF2-40B4-BE49-F238E27FC236}">
                <a16:creationId xmlns:a16="http://schemas.microsoft.com/office/drawing/2014/main" id="{EDAB1E03-B2A3-9EED-B3CB-751B9C017ABF}"/>
              </a:ext>
            </a:extLst>
          </p:cNvPr>
          <p:cNvSpPr/>
          <p:nvPr/>
        </p:nvSpPr>
        <p:spPr>
          <a:xfrm>
            <a:off x="1032932" y="1667933"/>
            <a:ext cx="10210801" cy="4739605"/>
          </a:xfrm>
          <a:prstGeom prst="snip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 prst="relaxedIns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B69F2C2-6E72-6FFE-8A84-061045BA560C}"/>
              </a:ext>
            </a:extLst>
          </p:cNvPr>
          <p:cNvSpPr/>
          <p:nvPr/>
        </p:nvSpPr>
        <p:spPr>
          <a:xfrm>
            <a:off x="3843869" y="142625"/>
            <a:ext cx="4504267" cy="1323439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CB829C-AF58-1335-6FCF-DAACEF1D6D2F}"/>
              </a:ext>
            </a:extLst>
          </p:cNvPr>
          <p:cNvSpPr txBox="1"/>
          <p:nvPr/>
        </p:nvSpPr>
        <p:spPr>
          <a:xfrm>
            <a:off x="4259804" y="142056"/>
            <a:ext cx="36723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FINAL RESULTS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F8D36C5-5CC3-366E-DC29-CCB9EB3E60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80682" y="1867618"/>
            <a:ext cx="8026400" cy="4340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1922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20000"/>
                <a:lumOff val="80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21609B-A675-440B-D3BC-51B88C5D1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Top Corners One Rounded and One Snipped 9">
            <a:extLst>
              <a:ext uri="{FF2B5EF4-FFF2-40B4-BE49-F238E27FC236}">
                <a16:creationId xmlns:a16="http://schemas.microsoft.com/office/drawing/2014/main" id="{127C2481-3A7B-4F0E-2DC3-D7455D57D6ED}"/>
              </a:ext>
            </a:extLst>
          </p:cNvPr>
          <p:cNvSpPr/>
          <p:nvPr/>
        </p:nvSpPr>
        <p:spPr>
          <a:xfrm>
            <a:off x="1032932" y="1667933"/>
            <a:ext cx="10210801" cy="4739605"/>
          </a:xfrm>
          <a:prstGeom prst="snip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 prst="relaxedIns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717F4A1-DD07-9C7A-7E9E-C0273F265F96}"/>
              </a:ext>
            </a:extLst>
          </p:cNvPr>
          <p:cNvSpPr/>
          <p:nvPr/>
        </p:nvSpPr>
        <p:spPr>
          <a:xfrm>
            <a:off x="3843869" y="142625"/>
            <a:ext cx="4504267" cy="1323439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658C48-288B-8990-1CEF-F0453E145E6D}"/>
              </a:ext>
            </a:extLst>
          </p:cNvPr>
          <p:cNvSpPr txBox="1"/>
          <p:nvPr/>
        </p:nvSpPr>
        <p:spPr>
          <a:xfrm>
            <a:off x="4259804" y="142056"/>
            <a:ext cx="36723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FINAL RESULTS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7B8EF52-C95C-CA60-4D49-8C8F26AC56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80682" y="1865273"/>
            <a:ext cx="8026400" cy="4344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4823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20000"/>
                <a:lumOff val="80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0D1BF8-30B4-06A7-2FB9-8D7AB4554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Top Corners One Rounded and One Snipped 9">
            <a:extLst>
              <a:ext uri="{FF2B5EF4-FFF2-40B4-BE49-F238E27FC236}">
                <a16:creationId xmlns:a16="http://schemas.microsoft.com/office/drawing/2014/main" id="{1DF38D38-6240-F61E-35FE-79146B864675}"/>
              </a:ext>
            </a:extLst>
          </p:cNvPr>
          <p:cNvSpPr/>
          <p:nvPr/>
        </p:nvSpPr>
        <p:spPr>
          <a:xfrm>
            <a:off x="1032932" y="1667933"/>
            <a:ext cx="10210801" cy="4739605"/>
          </a:xfrm>
          <a:prstGeom prst="snip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 prst="relaxedIns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1999BFB-B46A-C2C2-8FE6-351AFF5C637F}"/>
              </a:ext>
            </a:extLst>
          </p:cNvPr>
          <p:cNvSpPr/>
          <p:nvPr/>
        </p:nvSpPr>
        <p:spPr>
          <a:xfrm>
            <a:off x="3843869" y="142625"/>
            <a:ext cx="4504267" cy="1323439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9F2405-88A0-BB7B-33F8-04BBB9C879B7}"/>
              </a:ext>
            </a:extLst>
          </p:cNvPr>
          <p:cNvSpPr txBox="1"/>
          <p:nvPr/>
        </p:nvSpPr>
        <p:spPr>
          <a:xfrm>
            <a:off x="4259804" y="142056"/>
            <a:ext cx="36723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FINAL RESULTS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6338B93-599A-BCB1-6C10-ECC0C4582D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80682" y="1860568"/>
            <a:ext cx="8026400" cy="4354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5333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20000"/>
                <a:lumOff val="80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EBFE4D-0B38-AE76-0580-FD596B024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Top Corners One Rounded and One Snipped 9">
            <a:extLst>
              <a:ext uri="{FF2B5EF4-FFF2-40B4-BE49-F238E27FC236}">
                <a16:creationId xmlns:a16="http://schemas.microsoft.com/office/drawing/2014/main" id="{7B4DD9CB-E1E8-5285-9899-1B0CDE94374C}"/>
              </a:ext>
            </a:extLst>
          </p:cNvPr>
          <p:cNvSpPr/>
          <p:nvPr/>
        </p:nvSpPr>
        <p:spPr>
          <a:xfrm>
            <a:off x="1032932" y="1667933"/>
            <a:ext cx="10210801" cy="4739605"/>
          </a:xfrm>
          <a:prstGeom prst="snip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 prst="relaxedIns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EC06606-45E9-99A1-F2FF-94E060462811}"/>
              </a:ext>
            </a:extLst>
          </p:cNvPr>
          <p:cNvSpPr/>
          <p:nvPr/>
        </p:nvSpPr>
        <p:spPr>
          <a:xfrm>
            <a:off x="3843869" y="142625"/>
            <a:ext cx="4504267" cy="1323439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9AEDD0-F2D4-16D7-E8D5-C147075D254A}"/>
              </a:ext>
            </a:extLst>
          </p:cNvPr>
          <p:cNvSpPr txBox="1"/>
          <p:nvPr/>
        </p:nvSpPr>
        <p:spPr>
          <a:xfrm>
            <a:off x="4259804" y="142056"/>
            <a:ext cx="36723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FINAL RESULTS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12CB4C7-0692-7988-43CE-896EAD2586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80682" y="1865834"/>
            <a:ext cx="8026400" cy="4343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5323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20000"/>
                <a:lumOff val="80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5C3BFA-4AE0-8761-30B8-32A2005D9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Top Corners One Rounded and One Snipped 9">
            <a:extLst>
              <a:ext uri="{FF2B5EF4-FFF2-40B4-BE49-F238E27FC236}">
                <a16:creationId xmlns:a16="http://schemas.microsoft.com/office/drawing/2014/main" id="{048E7B02-8EF2-80A1-732C-E81332214C83}"/>
              </a:ext>
            </a:extLst>
          </p:cNvPr>
          <p:cNvSpPr/>
          <p:nvPr/>
        </p:nvSpPr>
        <p:spPr>
          <a:xfrm>
            <a:off x="1032932" y="1667933"/>
            <a:ext cx="10210801" cy="4739605"/>
          </a:xfrm>
          <a:prstGeom prst="snip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 prst="relaxedIns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369046D-1CD0-3BBA-46BB-6F2ABC6DF16C}"/>
              </a:ext>
            </a:extLst>
          </p:cNvPr>
          <p:cNvSpPr/>
          <p:nvPr/>
        </p:nvSpPr>
        <p:spPr>
          <a:xfrm>
            <a:off x="3843869" y="142625"/>
            <a:ext cx="4504267" cy="1323439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A360FD-86A1-306F-7BDD-1F1349E00DC4}"/>
              </a:ext>
            </a:extLst>
          </p:cNvPr>
          <p:cNvSpPr txBox="1"/>
          <p:nvPr/>
        </p:nvSpPr>
        <p:spPr>
          <a:xfrm>
            <a:off x="4259804" y="142056"/>
            <a:ext cx="36723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FINAL RESULTS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775C31F-7BD5-D3BF-2857-896F163691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80682" y="1870563"/>
            <a:ext cx="8026400" cy="4334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8908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20000"/>
                <a:lumOff val="80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0A4502-512B-2F64-D923-2130390D7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Top Corners One Rounded and One Snipped 9">
            <a:extLst>
              <a:ext uri="{FF2B5EF4-FFF2-40B4-BE49-F238E27FC236}">
                <a16:creationId xmlns:a16="http://schemas.microsoft.com/office/drawing/2014/main" id="{2CE47A83-9388-030C-23DE-9A5505444044}"/>
              </a:ext>
            </a:extLst>
          </p:cNvPr>
          <p:cNvSpPr/>
          <p:nvPr/>
        </p:nvSpPr>
        <p:spPr>
          <a:xfrm>
            <a:off x="1032932" y="1667933"/>
            <a:ext cx="10210801" cy="4739605"/>
          </a:xfrm>
          <a:prstGeom prst="snip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 prst="relaxedIns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6D9FA31-0107-5BAC-395A-AB05BA8D6106}"/>
              </a:ext>
            </a:extLst>
          </p:cNvPr>
          <p:cNvSpPr/>
          <p:nvPr/>
        </p:nvSpPr>
        <p:spPr>
          <a:xfrm>
            <a:off x="3843869" y="142625"/>
            <a:ext cx="4504267" cy="1323439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E32C6A-FEBC-3697-2E43-B5C995CC20D1}"/>
              </a:ext>
            </a:extLst>
          </p:cNvPr>
          <p:cNvSpPr txBox="1"/>
          <p:nvPr/>
        </p:nvSpPr>
        <p:spPr>
          <a:xfrm>
            <a:off x="4259804" y="142056"/>
            <a:ext cx="36723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FINAL RESULTS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F4B8172-1BEB-BC55-C6D2-EDD9AB84D6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80682" y="1861929"/>
            <a:ext cx="8026400" cy="4351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9378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20000"/>
                <a:lumOff val="80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4A7BD6-9916-4259-8080-32E7F29AE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Top Corners One Rounded and One Snipped 9">
            <a:extLst>
              <a:ext uri="{FF2B5EF4-FFF2-40B4-BE49-F238E27FC236}">
                <a16:creationId xmlns:a16="http://schemas.microsoft.com/office/drawing/2014/main" id="{99BD9EFB-CC00-8265-CF26-FEA7B5EF8FF5}"/>
              </a:ext>
            </a:extLst>
          </p:cNvPr>
          <p:cNvSpPr/>
          <p:nvPr/>
        </p:nvSpPr>
        <p:spPr>
          <a:xfrm>
            <a:off x="1032932" y="1667933"/>
            <a:ext cx="10210801" cy="4739605"/>
          </a:xfrm>
          <a:prstGeom prst="snip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 prst="relaxedIns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6E546A7-065F-4F97-3D57-079A674B2DDA}"/>
              </a:ext>
            </a:extLst>
          </p:cNvPr>
          <p:cNvSpPr/>
          <p:nvPr/>
        </p:nvSpPr>
        <p:spPr>
          <a:xfrm>
            <a:off x="3843869" y="142625"/>
            <a:ext cx="4504267" cy="1323439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A4CD89-C00D-7C8E-01EB-2D290A32B2C7}"/>
              </a:ext>
            </a:extLst>
          </p:cNvPr>
          <p:cNvSpPr txBox="1"/>
          <p:nvPr/>
        </p:nvSpPr>
        <p:spPr>
          <a:xfrm>
            <a:off x="4259804" y="142056"/>
            <a:ext cx="36723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FINAL RESULTS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143AFFA-EB7F-B784-750F-0B939E6D83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80682" y="1873605"/>
            <a:ext cx="8026400" cy="4328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8464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20000"/>
                <a:lumOff val="80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C11EBF-40F3-52BB-91AF-1E4A59DC8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69FD455-03A0-3523-68A1-FAD482AFBBC5}"/>
              </a:ext>
            </a:extLst>
          </p:cNvPr>
          <p:cNvSpPr/>
          <p:nvPr/>
        </p:nvSpPr>
        <p:spPr>
          <a:xfrm>
            <a:off x="3843867" y="450462"/>
            <a:ext cx="4504267" cy="1323439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873313-D867-F226-68D1-8848D4268935}"/>
              </a:ext>
            </a:extLst>
          </p:cNvPr>
          <p:cNvSpPr txBox="1"/>
          <p:nvPr/>
        </p:nvSpPr>
        <p:spPr>
          <a:xfrm>
            <a:off x="4185704" y="758238"/>
            <a:ext cx="38205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APPLICATIONS</a:t>
            </a:r>
          </a:p>
        </p:txBody>
      </p:sp>
      <p:sp>
        <p:nvSpPr>
          <p:cNvPr id="10" name="Rectangle: Top Corners One Rounded and One Snipped 9">
            <a:extLst>
              <a:ext uri="{FF2B5EF4-FFF2-40B4-BE49-F238E27FC236}">
                <a16:creationId xmlns:a16="http://schemas.microsoft.com/office/drawing/2014/main" id="{84531074-458C-5B6A-AA62-89E8B1D64ACE}"/>
              </a:ext>
            </a:extLst>
          </p:cNvPr>
          <p:cNvSpPr/>
          <p:nvPr/>
        </p:nvSpPr>
        <p:spPr>
          <a:xfrm>
            <a:off x="419099" y="2273162"/>
            <a:ext cx="11353799" cy="4134376"/>
          </a:xfrm>
          <a:prstGeom prst="snip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 prst="relaxedIns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275932-0E95-F90D-36CD-FAF47309B85B}"/>
              </a:ext>
            </a:extLst>
          </p:cNvPr>
          <p:cNvSpPr txBox="1"/>
          <p:nvPr/>
        </p:nvSpPr>
        <p:spPr>
          <a:xfrm>
            <a:off x="847821" y="2974254"/>
            <a:ext cx="3300846" cy="31255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innerShdw blurRad="114300">
              <a:prstClr val="black"/>
            </a:innerShdw>
          </a:effectLst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72D8A87-535B-95E2-3A21-041EAF7016E9}"/>
              </a:ext>
            </a:extLst>
          </p:cNvPr>
          <p:cNvSpPr txBox="1"/>
          <p:nvPr/>
        </p:nvSpPr>
        <p:spPr>
          <a:xfrm>
            <a:off x="995698" y="5114729"/>
            <a:ext cx="30050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Online      Learning.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FAB8F9-E498-664E-2EE7-E2D567420A4F}"/>
              </a:ext>
            </a:extLst>
          </p:cNvPr>
          <p:cNvSpPr txBox="1"/>
          <p:nvPr/>
        </p:nvSpPr>
        <p:spPr>
          <a:xfrm>
            <a:off x="8072003" y="2974254"/>
            <a:ext cx="3300846" cy="31255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innerShdw blurRad="114300">
              <a:prstClr val="black"/>
            </a:innerShdw>
          </a:effectLst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8047EF-73C1-B1D5-125F-C56E5D36BCCD}"/>
              </a:ext>
            </a:extLst>
          </p:cNvPr>
          <p:cNvSpPr txBox="1"/>
          <p:nvPr/>
        </p:nvSpPr>
        <p:spPr>
          <a:xfrm>
            <a:off x="8219880" y="5114729"/>
            <a:ext cx="30050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Online Examinations.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F32F41-ECDE-5184-38F7-333E10FC2C2B}"/>
              </a:ext>
            </a:extLst>
          </p:cNvPr>
          <p:cNvSpPr txBox="1"/>
          <p:nvPr/>
        </p:nvSpPr>
        <p:spPr>
          <a:xfrm>
            <a:off x="4459912" y="2974254"/>
            <a:ext cx="3300846" cy="31255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innerShdw blurRad="114300">
              <a:prstClr val="black"/>
            </a:innerShdw>
          </a:effectLst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3AC1852-F02D-0F93-33DC-F78572377C6F}"/>
              </a:ext>
            </a:extLst>
          </p:cNvPr>
          <p:cNvSpPr txBox="1"/>
          <p:nvPr/>
        </p:nvSpPr>
        <p:spPr>
          <a:xfrm>
            <a:off x="4607789" y="5114729"/>
            <a:ext cx="30050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Driver    Monitoring.</a:t>
            </a:r>
          </a:p>
        </p:txBody>
      </p:sp>
      <p:pic>
        <p:nvPicPr>
          <p:cNvPr id="2050" name="Picture 2" descr="Online Learning Children Using Computer Stock Vector - Illustration of  lesson, education: 208436770">
            <a:extLst>
              <a:ext uri="{FF2B5EF4-FFF2-40B4-BE49-F238E27FC236}">
                <a16:creationId xmlns:a16="http://schemas.microsoft.com/office/drawing/2014/main" id="{8241C729-7F7C-7D33-3ACA-3E3504FC60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/>
        </p:blipFill>
        <p:spPr bwMode="auto">
          <a:xfrm>
            <a:off x="905218" y="2851031"/>
            <a:ext cx="3186052" cy="2126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Five things you should know about distracted driving - Grand Forks Herald |  Grand Forks, East Grand Forks news, weather &amp; sports">
            <a:extLst>
              <a:ext uri="{FF2B5EF4-FFF2-40B4-BE49-F238E27FC236}">
                <a16:creationId xmlns:a16="http://schemas.microsoft.com/office/drawing/2014/main" id="{601A5330-097F-23E4-994B-11FB6360794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896"/>
          <a:stretch>
            <a:fillRect/>
          </a:stretch>
        </p:blipFill>
        <p:spPr bwMode="auto">
          <a:xfrm>
            <a:off x="4960000" y="3090333"/>
            <a:ext cx="2236668" cy="1968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9,700+ Student Taking Online Exam Stock Illustrations, Royalty-Free Vector  Graphics &amp; Clip Art - iStock">
            <a:extLst>
              <a:ext uri="{FF2B5EF4-FFF2-40B4-BE49-F238E27FC236}">
                <a16:creationId xmlns:a16="http://schemas.microsoft.com/office/drawing/2014/main" id="{CD989982-A5EF-6558-FE1A-FEB6F0AA9B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/>
        </p:blipFill>
        <p:spPr bwMode="auto">
          <a:xfrm>
            <a:off x="8112969" y="2974254"/>
            <a:ext cx="3435544" cy="2290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36808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20000"/>
                <a:lumOff val="80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0E4DB6-C4C5-9D3A-E646-7D4CE584E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C2F410A-BE44-6142-0AA7-2EB6EC97CC6C}"/>
              </a:ext>
            </a:extLst>
          </p:cNvPr>
          <p:cNvSpPr/>
          <p:nvPr/>
        </p:nvSpPr>
        <p:spPr>
          <a:xfrm>
            <a:off x="1261533" y="2294467"/>
            <a:ext cx="9668933" cy="2192866"/>
          </a:xfrm>
          <a:prstGeom prst="roundRect">
            <a:avLst/>
          </a:prstGeom>
          <a:gradFill>
            <a:gsLst>
              <a:gs pos="44000">
                <a:schemeClr val="accent6">
                  <a:lumMod val="40000"/>
                  <a:lumOff val="60000"/>
                </a:schemeClr>
              </a:gs>
              <a:gs pos="100000">
                <a:srgbClr val="B3E5A6"/>
              </a:gs>
              <a:gs pos="0">
                <a:schemeClr val="accent4">
                  <a:lumMod val="40000"/>
                  <a:lumOff val="60000"/>
                </a:schemeClr>
              </a:gs>
            </a:gsLst>
            <a:lin ang="5400000" scaled="1"/>
          </a:gradFill>
          <a:ln w="38100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B45CDA-3B0B-120C-F36E-F4FE3499CC0B}"/>
              </a:ext>
            </a:extLst>
          </p:cNvPr>
          <p:cNvSpPr txBox="1"/>
          <p:nvPr/>
        </p:nvSpPr>
        <p:spPr>
          <a:xfrm>
            <a:off x="3289569" y="2828835"/>
            <a:ext cx="56128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924354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590</TotalTime>
  <Words>275</Words>
  <Application>Microsoft Office PowerPoint</Application>
  <PresentationFormat>Widescreen</PresentationFormat>
  <Paragraphs>87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ADLaM Display</vt:lpstr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Datha Sai</dc:creator>
  <cp:lastModifiedBy>Datha Sai</cp:lastModifiedBy>
  <cp:revision>9</cp:revision>
  <dcterms:created xsi:type="dcterms:W3CDTF">2026-06-15T02:20:58Z</dcterms:created>
  <dcterms:modified xsi:type="dcterms:W3CDTF">2026-06-15T13:44:21Z</dcterms:modified>
</cp:coreProperties>
</file>